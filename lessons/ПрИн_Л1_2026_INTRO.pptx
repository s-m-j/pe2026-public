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9" Type="http://schemas.openxmlformats.org/officeDocument/2006/relationships/slide" Target="slides/slide2.xml" /><Relationship Id="rId10" Type="http://schemas.openxmlformats.org/officeDocument/2006/relationships/slide" Target="slides/slide3.xml" /><Relationship Id="rId11" Type="http://schemas.openxmlformats.org/officeDocument/2006/relationships/slide" Target="slides/slide4.xml" /><Relationship Id="rId12" Type="http://schemas.openxmlformats.org/officeDocument/2006/relationships/slide" Target="slides/slide5.xml" /><Relationship Id="rId13" Type="http://schemas.openxmlformats.org/officeDocument/2006/relationships/slide" Target="slides/slide6.xml" /><Relationship Id="rId14" Type="http://schemas.openxmlformats.org/officeDocument/2006/relationships/slide" Target="slides/slide7.xml" /><Relationship Id="rId15" Type="http://schemas.openxmlformats.org/officeDocument/2006/relationships/slide" Target="slides/slide8.xml" /><Relationship Id="rId16" Type="http://schemas.openxmlformats.org/officeDocument/2006/relationships/slide" Target="slides/slide9.xml" /><Relationship Id="rId17" Type="http://schemas.openxmlformats.org/officeDocument/2006/relationships/slide" Target="slides/slide10.xml" /><Relationship Id="rId18" Type="http://schemas.openxmlformats.org/officeDocument/2006/relationships/slide" Target="slides/slide11.xml" /><Relationship Id="rId19" Type="http://schemas.openxmlformats.org/officeDocument/2006/relationships/slide" Target="slides/slide12.xml" /><Relationship Id="rId20" Type="http://schemas.openxmlformats.org/officeDocument/2006/relationships/slide" Target="slides/slide13.xml" /><Relationship Id="rId21" Type="http://schemas.openxmlformats.org/officeDocument/2006/relationships/slide" Target="slides/slide14.xml" /><Relationship Id="rId22" Type="http://schemas.openxmlformats.org/officeDocument/2006/relationships/slide" Target="slides/slide15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1284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9FB4CB"/>
                </a:solidFill>
                <a:latin typeface="Calibri"/>
              </a:rPr>
              <a:t>ПРОГРАММНАЯ ИНЖЕНЕРИЯ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10578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Лекция 1.  Предмет дисциплины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542032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F3A53"/>
                </a:solidFill>
                <a:latin typeface="Calibri"/>
              </a:rPr>
              <a:t>Жизненный цикл и карта курса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127248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456432"/>
            <a:ext cx="8595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Инженерия — работа с решениями при неполной информации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и ограниченных ресурсах. Код — след этих решений.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806440"/>
            <a:ext cx="110578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Маслов Сергей Сергеевич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Задача решена дважды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8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05463"/>
                <a:gridCol w="6352375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Разработчик А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Разработчик Б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Работает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Работает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Сделал за 3 дня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Сделал за 3 дня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Тесты проходят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Тесты проходят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Знает, что будет, если нагрузка вырастет в 10 раз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Знает, чем пожертвовал и почему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Знает, как узнает, что сломалось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Может назвать, кто принял решение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956048"/>
            <a:ext cx="11057839" cy="6400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5056632"/>
            <a:ext cx="1065550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1F3A53"/>
                </a:solidFill>
                <a:latin typeface="Calibri"/>
              </a:rPr>
              <a:t>Один из них выполнил задачу. Второй принял инженерное решение.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Четыре вопроса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786384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566928" cy="786384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645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1F3A53"/>
                </a:solidFill>
                <a:latin typeface="Calibri"/>
              </a:rPr>
              <a:t>Чего это стоило?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99339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время, деньги, чужой труд, будущая поддержка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32304"/>
            <a:ext cx="11057839" cy="786384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432304"/>
            <a:ext cx="566928" cy="786384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33472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542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1F3A53"/>
                </a:solidFill>
                <a:latin typeface="Calibri"/>
              </a:rPr>
              <a:t>От чего пришлось отказаться?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889504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любое решение закрывает альтернативы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328416"/>
            <a:ext cx="11057839" cy="786384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566928" cy="786384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529584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43814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1F3A53"/>
                </a:solidFill>
                <a:latin typeface="Calibri"/>
              </a:rPr>
              <a:t>Как я узнаю, что это перестало работать?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78561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решение без признака отказа непроверяемо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224528"/>
            <a:ext cx="11057839" cy="786384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224528"/>
            <a:ext cx="566928" cy="786384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425696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433425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1F3A53"/>
                </a:solidFill>
                <a:latin typeface="Calibri"/>
              </a:rPr>
              <a:t>Кто это решил?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81728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у решения есть автор, и он отвечает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230368"/>
            <a:ext cx="11057839" cy="56692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330952"/>
            <a:ext cx="1065550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Артефакты — код, тесты, документы — это след решений. Работа — сами решения.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Чем инженер отличается от ремесленника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8" cy="224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8919"/>
                <a:gridCol w="5528919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</a:rPr>
                        <a:t>Ремесло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</a:rPr>
                        <a:t>Инженерия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решение принимается по опыту и вкусу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решение проверяется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«я так делал, работало»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«вот что я ожидал, вот что измерил»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качество зависит от мастера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качество воспроизводимо другими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ошибка обнаруживается при использовании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ошибка обнаруживается процедурой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041648"/>
            <a:ext cx="11057839" cy="71323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133087"/>
            <a:ext cx="1050919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Инженерия — применение эмпирического, научного подхода к поиску эффективных и экономически обоснованных решений практических задач.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882896"/>
            <a:ext cx="11057839" cy="82296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983480"/>
            <a:ext cx="1065550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Ремесло — не оскорбление. Вопрос в том, что происходит,
когда система перестаёт помещаться в голову одного мастера.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Производство — не наша 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В большинстве отраслей самое дорогое — производство: спроектировать автомобиль трудно, но наладить выпуск миллиона — дороже и сложнее.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103120"/>
          <a:ext cx="11057838" cy="1792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8919"/>
                <a:gridCol w="5528919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Что дорого в промышленности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Что у нас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изготовление каждой копии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копирование бесплатно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материалы, оснастка, брак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сборка автоматическая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переналадка линии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пересборка занимает минуты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3931920"/>
            <a:ext cx="11057839" cy="73152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041648"/>
            <a:ext cx="1050919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У нас нет стадии производства. Есть только проектирование — от первой строки до последней.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791456"/>
            <a:ext cx="11057839" cy="82296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892040"/>
            <a:ext cx="1065550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Стоимость сборки в 2026 году стремится к нулю ещё сильнее. Тем важнее становится
то, что не автоматизируется, — решение о том, что именно строить.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Кризис программного обеспечения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 Конец 1960-х: производительность аппаратуры растёт быстро, способность делать надёжные программы — нет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 1968, конференция NATO в Гармише: за дисциплиной закрепляется название software engineering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 Термин ввела Маргарет Гамильтон, руководившая разработкой бортового ПО программы «Аполлон»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346704"/>
            <a:ext cx="11057839" cy="105156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346704"/>
            <a:ext cx="43180" cy="105156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493008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Диагноз конференции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Проблема не в языках и не в машинах, а в том, что нет способа управлять сложностью и договариваться о том, что строится.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864608"/>
            <a:ext cx="11057839" cy="621792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965192"/>
            <a:ext cx="10655503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Названию дисциплины почти 60 лет. Диагноз с тех пор не изменился.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«Большинство проектов проваливается»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5852160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5216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Standish Group, CHAOS Report, 1994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Calibri"/>
                        </a:rPr>
                        <a:t>Успешные — 16,2 %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Calibri"/>
                        </a:rPr>
                        <a:t>Проблемные — 52,7 %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Calibri"/>
                        </a:rPr>
                        <a:t>Провальные — 31,1 %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20840" y="1536192"/>
            <a:ext cx="4892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Публикуется с 1994 года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Самая цитируемая статистика в истории отрасли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Встречается в учебниках, презентациях вендоров, обоснованиях бюджетов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C05A21"/>
                </a:solidFill>
                <a:latin typeface="Calibri"/>
              </a:rPr>
              <a:t>•   И, до сегодняшнего дня, в этом курсе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498848"/>
            <a:ext cx="11057839" cy="68580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599432"/>
            <a:ext cx="1065550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Прежде чем пользоваться цифрой — стоит задать ей несколько вопросов. Разберём это на её собственном примере — прямо сейчас.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Разбор: что именно измерили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71323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45920"/>
            <a:ext cx="1050919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Успех = проект завершён в срок, в бюджет и со всей заявленной функциональностью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87168"/>
            <a:ext cx="11057839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Что из этого следует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измеряется не польза от системы, а точность первоначальной оценки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проект, принёсший деньги, но вышедший на два месяца позже, — «провал»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проект, где отказались от ненужной функции, — «провал»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команда, заложившая в оценку двойной запас, — «успех»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645152"/>
            <a:ext cx="11057839" cy="65836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645152"/>
            <a:ext cx="43180" cy="658368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736592"/>
            <a:ext cx="1050919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1F3A53"/>
                </a:solidFill>
                <a:latin typeface="Calibri"/>
              </a:rPr>
              <a:t>Значит, показатель улучшается от завышения оценок.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449824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1">
                <a:solidFill>
                  <a:srgbClr val="6B7280"/>
                </a:solidFill>
                <a:latin typeface="Calibri"/>
              </a:rPr>
              <a:t>Отдельно: методика формирования выборки и исходные данные не опубликованы, а распределения заметно меняются от отчёта к отчёту.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Первый инструмент курса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Цифра не отменяется — отменяется её бесконтрольное употребление.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11057839" cy="6583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084831"/>
            <a:ext cx="502920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231135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57983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Что именно измерено?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2176271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не как названо, а как посчитано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834639"/>
            <a:ext cx="11057839" cy="6583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834639"/>
            <a:ext cx="502920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980943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07791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На какой выборке?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2926079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кто в неё попал и кто не мог попасть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84447"/>
            <a:ext cx="11057839" cy="6583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584447"/>
            <a:ext cx="502920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730751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57599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Кому выгоден такой результат?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3675887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кто заказывал и публиковал измерение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334255"/>
            <a:ext cx="11057839" cy="6583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334255"/>
            <a:ext cx="502920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480559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407407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Воспроизводимо ли это?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4425695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есть ли данные, по которым можно проверить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212080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0" i="1">
                <a:solidFill>
                  <a:srgbClr val="6B7280"/>
                </a:solidFill>
                <a:latin typeface="Calibri"/>
              </a:rPr>
              <a:t>Eveleens J. L., Verhoef C. The Rise and Fall of the Chaos Report Figures // IEEE Software. 2010. Vol. 27, № 1. P. 30–36.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614416"/>
            <a:ext cx="11057839" cy="54864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715000"/>
            <a:ext cx="1065550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Это относится к любой цифре про производительность, качество и сроки — включая те, что вы услышите от меня.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Software Engineering Body of Knowledge, v4 (2024)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0" i="1">
                <a:solidFill>
                  <a:srgbClr val="6B7280"/>
                </a:solidFill>
                <a:latin typeface="Calibri"/>
              </a:rPr>
              <a:t>Состав областей знаний привести по оригиналу IEEE 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11057836" cy="2587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2818"/>
                <a:gridCol w="2632818"/>
                <a:gridCol w="2632818"/>
                <a:gridCol w="3159382"/>
              </a:tblGrid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Что строим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Как проверяем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Как организуем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На чём стоим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214884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требования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проектирование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архитектура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конструирование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тестирование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качество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безопасность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управление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процесс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конфигурации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эксплуатация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сопровождение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экономика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вычислительные основы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математические основы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инженерные основы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профессиональная практика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4334256"/>
            <a:ext cx="11057839" cy="603504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434840"/>
            <a:ext cx="10655503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Это не программа курса, а карта области. За два семестра мы пройдём не всё.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084064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0" i="1">
                <a:solidFill>
                  <a:srgbClr val="6B7280"/>
                </a:solidFill>
                <a:latin typeface="Calibri"/>
              </a:rPr>
              <a:t>Группировка по смыслу — для читаемости. Порядок внутри стандарта другой.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v3 (2014)  →  v4 (2024)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Что добавилось в свод знаний за десять лет: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03120"/>
            <a:ext cx="11057839" cy="80467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103120"/>
            <a:ext cx="43180" cy="804672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128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1F3A53"/>
                </a:solidFill>
                <a:latin typeface="Calibri"/>
              </a:rPr>
              <a:t>Software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6032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 i="0">
                <a:solidFill>
                  <a:srgbClr val="6B7280"/>
                </a:solidFill>
                <a:latin typeface="Calibri"/>
              </a:rPr>
              <a:t>архитектура выделена в самостоятельную область знаний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017520"/>
            <a:ext cx="11057839" cy="80467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017520"/>
            <a:ext cx="43180" cy="804672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127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1F3A53"/>
                </a:solidFill>
                <a:latin typeface="Calibri"/>
              </a:rPr>
              <a:t>Software Engineering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47472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 i="0">
                <a:solidFill>
                  <a:srgbClr val="6B7280"/>
                </a:solidFill>
                <a:latin typeface="Calibri"/>
              </a:rPr>
              <a:t>эксплуатация признана частью инженерии, а не смежной службой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931920"/>
            <a:ext cx="11057839" cy="80467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931920"/>
            <a:ext cx="43180" cy="804672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0416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1F3A53"/>
                </a:solidFill>
                <a:latin typeface="Calibri"/>
              </a:rPr>
              <a:t>Software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38912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 i="0">
                <a:solidFill>
                  <a:srgbClr val="6B7280"/>
                </a:solidFill>
                <a:latin typeface="Calibri"/>
              </a:rPr>
              <a:t>безопасность вынесена из общего качества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956048"/>
            <a:ext cx="11057839" cy="105156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5102352"/>
            <a:ext cx="1041775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Оба первых раздела — это ваш второй семестр.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0" i="0">
                <a:solidFill>
                  <a:srgbClr val="9FB4CB"/>
                </a:solidFill>
                <a:latin typeface="Calibri"/>
              </a:rPr>
              <a:t>Эксплуатация — вторая половина первого.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Стадии жизненного цикла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8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946"/>
                <a:gridCol w="3685946"/>
                <a:gridCol w="3685946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ISO/IEC/IEEE 12207:2017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ГОСТ Р 53622-2009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Сервисная модель (ITSM)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Формирование требований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Исследование и обоснование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Определение требований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Проектирование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Разработка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Проектирование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Реализация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Испытания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Ввод в действие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Тестирование, интеграция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Внедрение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Поддержка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Эксплуатация и сопровождение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Эксплуатация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Непрерывное улучшение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Вывод из эксплуатации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Снятие с эксплуатации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Вывод из эксплуатации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956048"/>
            <a:ext cx="11057839" cy="56692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5056632"/>
            <a:ext cx="1065550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Набор стадий примерно один и тот же. Отличаются границы и словарь.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Это не спор о том, кто прав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 Стандарт описывает, ЧТО должно быть сделано, — а не в каком порядке и не за сколько итераций</a:t>
            </a:r>
          </a:p>
          <a:p>
            <a:pPr algn="l">
              <a:lnSpc>
                <a:spcPct val="105000"/>
              </a:lnSpc>
              <a:spcAft>
                <a:spcPts val="15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 Одни и те же стадии можно пройти один раз (плановая модель) или сто раз по кусочку (итеративная)</a:t>
            </a:r>
          </a:p>
          <a:p>
            <a:pPr algn="l">
              <a:lnSpc>
                <a:spcPct val="105000"/>
              </a:lnSpc>
              <a:spcAft>
                <a:spcPts val="15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 Выбор модели — инженерное решение: у него есть цена и отвергнутая альтернатива</a:t>
            </a:r>
          </a:p>
          <a:p>
            <a:pPr algn="l">
              <a:lnSpc>
                <a:spcPct val="105000"/>
              </a:lnSpc>
              <a:spcAft>
                <a:spcPts val="15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 Спор «водопад против гибких методов» — спор не о стадиях, а о размере шага и о том, когда мы узнаём, что ошиблись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681728"/>
            <a:ext cx="11057839" cy="603504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782312"/>
            <a:ext cx="10655503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Подробно — лекция 3. Сейчас важно, что выбор существует и он ваш.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Что мы пройдём за два семестра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8" cy="3712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65637"/>
                <a:gridCol w="5792201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Семестр 1 — как организована работа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Семестр 2 — как устроена система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1. Предмет, жизненный цикл, карта курса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1. Бизнес-архитектура и стейкхолдеры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2. Требования: выявление и спецификация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2. Архитектура: модульность, стили, шаблоны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3. Управление разработкой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3. Микросервисы и распределённость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4. Оценка и работа с неопределённостью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4. Данные и их эволюция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5. Управление конфигурациями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5. Атрибуты качества систем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6. Тестирование и обеспечение качества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6. Паттерны проектирования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7. DevOps и непрерывная поставка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7. Рефакторинг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8. Эксплуатация: инциденты и надёжность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8. Мониторинг и наблюдаемость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9. Изменения, релизы и эволюция системы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9. Метрики качества кода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Организация курса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0" i="1">
                <a:solidFill>
                  <a:srgbClr val="6B7280"/>
                </a:solidFill>
                <a:latin typeface="Calibri"/>
              </a:rPr>
              <a:t>Заполнить по своим правилам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11057839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 Лекции — весь поток. Семинары — по группам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 Что сдаётся в течение семестра и в какие сроки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 Как формируется оценка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 Форма итогового контроля; что можно брать с собой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•   Литература: SWEBOK v4 как справочник, остальное — по темам, на каждой лекции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443984"/>
            <a:ext cx="11057839" cy="141732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590288"/>
            <a:ext cx="1041775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Чего это стоило  ·  От чего отказались  ·  Как узнаем, что сломалось  ·  Кто решил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9FB4CB"/>
                </a:solidFill>
                <a:latin typeface="Calibri"/>
              </a:rPr>
              <a:t>Весь курс — про то, как отвечать на эти вопросы в разных ситуациях.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9FB4CB"/>
                </a:solidFill>
                <a:latin typeface="Calibri"/>
              </a:rPr>
              <a:t>Второй семестр — про то, как эти ответы выглядят внутри системы.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1. Предмет, жизненный цикл, карта курса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