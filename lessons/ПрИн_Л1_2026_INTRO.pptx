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начинать с оргвопросов. Оргблок стоит в конце: на первой лекции внимание самое дорогое в первые двадцать минут, и тратить его на порядок сдачи работ не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спрашивайте «кто лучше» — ответ очевиден и потому бесполезен. Спросите иначе: что из правой колонки нельзя увидеть в коде? Ничего из этого в коде не написано — ни цена, ни альтернатива, ни признак отказа, ни ответственный.</a:t>
            </a:r>
          </a:p>
          <a:p/>
          <a:p>
            <a:r>
              <a:t>Отсюда тезис лекции: программная инженерия — это не про то, как писать код. Код здесь одинаковый. Это про то, что стоит вокруг решения и делает его проверяемым.</a:t>
            </a:r>
          </a:p>
          <a:p/>
          <a:p>
            <a:r>
              <a:t>Если аудитория живая, можно добавить: в 2026 году левая колонка стоит дешевле, чем когда-либо. Именно поэтому разница между колонками стала видимой, а не академической. Но не разворачивайте это здесь — тема перетянет внимание на себя.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— сквозная рамка курса, к ним можно возвращаться на любой лекции. Проговорите, что ни на один нельзя ответить «потом»: цена, альтернатива и признак отказа определяются в момент принятия решения, а не когда что-то сломалось.</a:t>
            </a:r>
          </a:p>
          <a:p/>
          <a:p>
            <a:r>
              <a:t>Точное определение инженерии здесь сознательно не даю. Скажите об этом вслух: строгое определение и разбор, чем инженерия отличается от ремесла, будет во втором семестре. Это честно и снимает ощущение, что от них что-то утаили.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Тон не снисходительный: студенты сами пока работают как ремесленники, и это нормально для их этапа.</a:t>
            </a:r>
          </a:p>
          <a:p/>
          <a:p>
            <a:r>
              <a:t>Ключевой поворот: ремесленный подход отказывает не из-за низкого качества, а из-за МАСШТАБА. Пока систему держит в голове один человек, вкус работает. Когда система больше — нужен способ передавать решения и проверять их без автора.</a:t>
            </a:r>
          </a:p>
          <a:p/>
          <a:p>
            <a:r>
              <a:t>В определении задержитесь на «экономически обоснованных». Красивое, чистое, идеально спроектированное решение, стоившее вдвое дороже выигрыша, инженерным не является. Эту часть студенты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объясняет, почему нельзя переносить в разработку привычки массового производства: стадии, передача между цехами, минимизация переделок. Это инструменты выпуска, а не инструменты исследования.</a:t>
            </a:r>
          </a:p>
          <a:p/>
          <a:p>
            <a:r>
              <a:t>Возражение: «а как же процессы и планирование?» Ответ: они нужны, но не как способ избежать переделок, а как способ организовать обучение. Переделка в проектировании — не брак, а результат.</a:t>
            </a:r>
          </a:p>
          <a:p/>
          <a:p>
            <a:r>
              <a:t>К этому вернёмся в теме 3, когда будем разбирать плановые и гибкие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Короткий блок, 4–5 минут, не превращайте в историю вычислительной техники. Единственное, что должно остаться: дисциплина возникла не потому, что кто-то захотел красивую методологию, а потому, что проекты систематически не получались, и стало ясно, что причина не техническая.</a:t>
            </a:r>
          </a:p>
          <a:p/>
          <a:p>
            <a:r>
              <a:t>Про Гамильтон стоит сказать одну деталь: она вводила термин в том числе чтобы работу над ПО начали воспринимать всерьёз наравне с аппаратной инженерией.</a:t>
            </a:r>
          </a:p>
          <a:p/>
          <a:p>
            <a:r>
              <a:t>Переход к следующему слайду: «Если диагноз конференции верный — сложностью действительно не умеют управлять, — это должно быть видно в цифрах. Вот первая такая цифра, которую вы будете встречать всю жизнь».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Подайте всерьёз, без иронии — ирония сломает упражнение. Студент должен сначала принять цифру, как принимал её каждый, кто её цитировал.</a:t>
            </a:r>
          </a:p>
          <a:p/>
          <a:p>
            <a:r>
              <a:t>Честно скажите, что она стояла и в этом курсе, и вы её убираете. Это не самоуничижение: демонстрация того, что пересмотр собственных материалов — нормальная инженерная процедура, стоит больше, чем сама цифра.</a:t>
            </a:r>
          </a:p>
          <a:p/>
          <a:p>
            <a:r>
              <a:t>ВАЖНО: на слайде приведены цифры первого отчёта 1994 года. Если берёте другой год — замените и здесь, и в разборе на следующем слайде. Не смешивайте распределения разных лет: их расхождение работает как отдельный аргумент.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лекции. Ведите к выводу вопросами, не давайте готовым.</a:t>
            </a:r>
          </a:p>
          <a:p/>
          <a:p>
            <a:r>
              <a:t>Спросите: «Компания сделала систему, она приносит прибыль, но вышла на два месяца позже плана. Успех или провал?» По определению — провал. Дайте паузу.</a:t>
            </a:r>
          </a:p>
          <a:p/>
          <a:p>
            <a:r>
              <a:t>Второй вопрос сильнее: «Как команде гарантированно попасть в категорию успешных?» Кто-нибудь дойдёт до ответа сам — заложить в оценку запас побольше. Вот здесь и надо остановиться: показатель, который улучшается от завышения оценок, измеряет не то, что написано на его этикетке.</a:t>
            </a:r>
          </a:p>
          <a:p/>
          <a:p>
            <a:r>
              <a:t>Переносимый навык: не «CHAOS плохой», а всегда проверяйте, что операционально измерено, прежде чем пользоваться выводом.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Последнюю строку произнесите вслух, она важнее остальных. Вы задаёте норму: в этом курсе можно спрашивать «откуда цифра», в том числе у лектора.</a:t>
            </a:r>
          </a:p>
          <a:p/>
          <a:p>
            <a:r>
              <a:t>Эти четыре вопроса — не те же самые, что на слайде 3. Там вопросы про решение (цена, альтернатива, признак отказа, кто решил), здесь — про измерение (что посчитано, на какой выборке, кому выгодно, воспроизводимо ли). Если аудитория готова, можно сказать это прямо: набор другой, а дисциплина та же — не полагаться на утверждение, не выяснив, на чём оно стоит.</a:t>
            </a:r>
          </a:p>
          <a:p/>
          <a:p>
            <a:r>
              <a:t>Здесь же анонсируйте семинар: студент берёт любое публичное утверждение о разработке ПО с числом — из статьи, из презентации вендора, из рекламы инструмента — и разбирает по этим четырём пунктам.</a:t>
            </a:r>
          </a:p>
          <a:p/>
          <a:p>
            <a:r>
              <a:t>Переход: «Мы поняли, как проверять утверждения о дисциплине. Теперь — из чего дисциплина состоит».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Главное, что должен унести студент: у дисциплины есть согласованный состав, зафиксированный международным профессиональным сообществом, и он шире, чем «писать код». Конкретные названия областей заучивать не нужно — нужно знать, что карта существует и где посмотреть.</a:t>
            </a:r>
          </a:p>
          <a:p/>
          <a:p>
            <a:r>
              <a:t>Скажите прямо, что мы пройдём не всё и что именно останется за рамками. Признание границ курса на первой лекции снимает половину претензий на зачёте.</a:t>
            </a:r>
          </a:p>
          <a:p/>
          <a:p>
            <a:r>
              <a:t>ПЕРЕД ПОКАЗОМ: сверьте состав областей по оригиналу v4. На слайд идёт список, и ошибка в нём заметна.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делает две вещи сразу.</a:t>
            </a:r>
          </a:p>
          <a:p/>
          <a:p>
            <a:r>
              <a:t>Первая: показывает, что дисциплина живая. За десять лет свод знаний признал архитектуру и эксплуатацию самостоятельными областями — то есть отрасль пересмотрела, что входит в работу инженера. Хорошая иллюстрация к тому, что учебная программа не может быть написана один раз.</a:t>
            </a:r>
          </a:p>
          <a:p/>
          <a:p>
            <a:r>
              <a:t>Вторая, прагматичная: связывает два семестра. Скажите, что разделение осознанное: первый семестр — как работа организуется, специфицируется, проверяется, поставляется и эксплуатируется; второй — как система устроена внутри.</a:t>
            </a:r>
          </a:p>
          <a:p/>
          <a:p>
            <a:r>
              <a:t>Про Software Security оговорите, что отдельной лекции по безопасности в курсе нет, она проходит фрагментами — в DevSecOps и в атрибутах качества второго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зачитывайте таблицу — она нужна глазами. Скажите одно: набор стадий примерно один и тот же, отличаются границы и словарь.</a:t>
            </a:r>
          </a:p>
          <a:p/>
          <a:p>
            <a:r>
              <a:t>Обратите внимание группы на последнюю строку. Вывод из эксплуатации есть во всех трёх моделях, и это единственная стадия, которую студенты никогда не закладывают в свои проекты. Хороший момент, чтобы спросить: «Кто из вас, проектируя что-нибудь, думал о том, как это будет выключаться?»</a:t>
            </a:r>
          </a:p>
          <a:p/>
          <a:p>
            <a:r>
              <a:t>Стадии в колонках сверьте по действующим редакциям. Oracle CDM из старого слайда убран — методология не поддерживается.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снимает типовое заблуждение: студенты выходят с представлением, что ISO 12207 — это водопад и что стандарт что-то запрещает. Стандарт описывает состав работ, а не их расписание.</a:t>
            </a:r>
          </a:p>
          <a:p/>
          <a:p>
            <a:r>
              <a:t>Здесь же уместно вернуть четыре вопроса и показать, что они работают: выбор модели разработки — ровно то решение, у которого есть цена, отвергнутая альтернатива, признак ошибки и ответственный.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Пройдите по колонкам быстро, по одной фразе на пункт — это оглавление, а не содержание.</a:t>
            </a:r>
          </a:p>
          <a:p/>
          <a:p>
            <a:r>
              <a:t>Два места, где стоит задержаться на пятнадцать секунд:</a:t>
            </a:r>
          </a:p>
          <a:p>
            <a:r>
              <a:t>— лекция 4, оценка: «мы разберём, почему оценки систематически занижены и что с этим делают»;</a:t>
            </a:r>
          </a:p>
          <a:p>
            <a:r>
              <a:t>— лекция 5, конфигурации: «это то, чем вы будете заниматься каждый рабочий день с первого дня, и единственная тема, после которой останется навык, а не понимание».</a:t>
            </a:r>
          </a:p>
          <a:p/>
          <a:p>
            <a:r>
              <a:t>Скажите, что расписание тем может немного сдвинуться. Это правда, и лучше сказать заранее, чем объясняться в ноябре.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Оргблок в конце сознательно: к этому моменту студент уже понимает, о чём курс, и правила ложатся на содержание, а не в пустоту.</a:t>
            </a:r>
          </a:p>
          <a:p/>
          <a:p>
            <a:r>
              <a:t>Одна вещь, которую стоит сказать прямо на первой лекции: семинары в разных группах могут идти по-разному, а лекции и итоговый контроль — общие. Это снимает вопрос «а почему у них по-другому», который иначе всплывёт в октябре в неудобный момент.</a:t>
            </a:r>
          </a:p>
          <a:p/>
          <a:p>
            <a:r>
              <a:t>Финал — возврат к четырём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12848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9FB4CB"/>
                </a:solidFill>
                <a:latin typeface="Calibri"/>
              </a:rPr>
              <a:t>ПРОГРАММНАЯ ИНЖЕНЕРИЯ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10578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Лекция 1.  Предмет дисциплины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42032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300" b="1" i="0">
                <a:solidFill>
                  <a:srgbClr val="1F3A53"/>
                </a:solidFill>
                <a:latin typeface="Calibri"/>
              </a:rPr>
              <a:t>Жизненный цикл и карта курса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456432"/>
            <a:ext cx="8595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Инженерия — работа с решениями при неполной информации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и ограниченных ресурсах. Код — след этих решений.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806440"/>
            <a:ext cx="11057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Маслов Сергей Сергеевич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Задача решена дважды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536192"/>
          <a:ext cx="11057838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5463"/>
                <a:gridCol w="6352375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Разработчик А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Разработчик Б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Работает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Работает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Сделал за 3 дня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Сделал за 3 дня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Тесты проходят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Тесты проходят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Знает, что будет, если нагрузка вырастет в 10 раз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Знает, чем пожертвовал и почему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Знает, как узнает, что сломалось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Может назвать, кто принял решение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66928" y="4956048"/>
            <a:ext cx="11057839" cy="64008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5056632"/>
            <a:ext cx="1065550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Один из них выполнил задачу. Второй принял инженерное решение.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Четыре вопроса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536192"/>
            <a:ext cx="11057839" cy="786384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36192"/>
            <a:ext cx="566928" cy="786384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737360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645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Чего это стоило?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199339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время, деньги, чужой труд, будущая поддержка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432304"/>
            <a:ext cx="11057839" cy="786384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432304"/>
            <a:ext cx="566928" cy="786384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33472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5420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От чего пришлось отказаться?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8895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любое решение закрывает альтернативы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328416"/>
            <a:ext cx="11057839" cy="786384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566928" cy="786384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529584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343814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Как я узнаю, что это перестало работать?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3785616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решение без признака отказа непроверяемо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24528"/>
            <a:ext cx="11057839" cy="786384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224528"/>
            <a:ext cx="566928" cy="786384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425696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433425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Кто это решил?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8172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у решения есть автор, и он отвечает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230368"/>
            <a:ext cx="11057839" cy="566928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30952"/>
            <a:ext cx="1065550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1" i="0">
                <a:solidFill>
                  <a:srgbClr val="1F3A53"/>
                </a:solidFill>
                <a:latin typeface="Calibri"/>
              </a:rPr>
              <a:t>Артефакты — код, тесты, документы — это след решений. Работа — сами решения.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Чем инженер отличается от ремесленника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536192"/>
          <a:ext cx="11057838" cy="2249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8919"/>
                <a:gridCol w="5528919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</a:rPr>
                        <a:t>Ремесло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</a:rPr>
                        <a:t>Инженерия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решение принимается по опыту и вкусу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решение проверяется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«я так делал, работало»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«вот что я ожидал, вот что измерил»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качество зависит от мастера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качество воспроизводимо другими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ошибка обнаруживается при использовании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ошибка обнаруживается процедурой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66928" y="4041648"/>
            <a:ext cx="11057839" cy="713232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33087"/>
            <a:ext cx="1050919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Инженерия — применение эмпирического, научного подхода к поиску эффективных и экономически обоснованных решений практических задач.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4882896"/>
            <a:ext cx="11057839" cy="82296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983480"/>
            <a:ext cx="1065550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Ремесло — не оскорбление. Вопрос в том, что происходит,
когда система перестаёт помещаться в голову одного мастера.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Производство — не наша 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36192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В большинстве отраслей самое дорогое — производство: спроектировать автомобиль трудно, но наладить выпуск миллиона — дороже и сложнее.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11057838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8919"/>
                <a:gridCol w="5528919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Что дорого в промышленности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Что у нас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изготовление каждой копии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копирование бесплатно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материалы, оснастка, брак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сборка автоматическая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переналадка линии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50" b="0">
                          <a:solidFill>
                            <a:srgbClr val="2B2B2B"/>
                          </a:solidFill>
                          <a:latin typeface="Calibri"/>
                        </a:rPr>
                        <a:t>пересборка занимает минуты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3931920"/>
            <a:ext cx="11057839" cy="731520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041648"/>
            <a:ext cx="1050919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У нас нет стадии производства. Есть только проектирование — от первой строки до последней.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91456"/>
            <a:ext cx="11057839" cy="82296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4892040"/>
            <a:ext cx="1065550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1" i="0">
                <a:solidFill>
                  <a:srgbClr val="1F3A53"/>
                </a:solidFill>
                <a:latin typeface="Calibri"/>
              </a:rPr>
              <a:t>Стоимость сборки в 2026 году стремится к нулю ещё сильнее. Тем важнее становится
то, что не автоматизируется, — решение о том, что именно строить.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Кризис программного обеспечения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36192"/>
            <a:ext cx="11057839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Конец 1960-х: производительность аппаратуры растёт быстро, способность делать надёжные программы — нет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1968, конференция NATO в Гармише: за дисциплиной закрепляется название software engineering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Термин ввела Маргарет Гамильтон, руководившая разработкой бортового ПО программы «Аполлон»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346704"/>
            <a:ext cx="11057839" cy="1051560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346704"/>
            <a:ext cx="43180" cy="105156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493008"/>
            <a:ext cx="1050919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1" i="0">
                <a:solidFill>
                  <a:srgbClr val="1F3A53"/>
                </a:solidFill>
                <a:latin typeface="Calibri"/>
              </a:rPr>
              <a:t>Диагноз конференции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Проблема не в языках и не в машинах, а в том, что нет способа управлять сложностью и договариваться о том, что строится.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64608"/>
            <a:ext cx="11057839" cy="621792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4965192"/>
            <a:ext cx="106555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00" b="1" i="0">
                <a:solidFill>
                  <a:srgbClr val="1F3A53"/>
                </a:solidFill>
                <a:latin typeface="Calibri"/>
              </a:rPr>
              <a:t>Названию дисциплины почти 60 лет. Диагноз с тех пор не изменился.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«Большинство проектов проваливается»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536192"/>
          <a:ext cx="5852160" cy="2066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52160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Standish Group, CHAOS Report, 1994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700" b="0">
                          <a:solidFill>
                            <a:srgbClr val="2B2B2B"/>
                          </a:solidFill>
                          <a:latin typeface="Calibri"/>
                        </a:rPr>
                        <a:t>Успешные — 16,2 %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700" b="0">
                          <a:solidFill>
                            <a:srgbClr val="2B2B2B"/>
                          </a:solidFill>
                          <a:latin typeface="Calibri"/>
                        </a:rPr>
                        <a:t>Проблемные — 52,7 %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700" b="0">
                          <a:solidFill>
                            <a:srgbClr val="2B2B2B"/>
                          </a:solidFill>
                          <a:latin typeface="Calibri"/>
                        </a:rPr>
                        <a:t>Провальные — 31,1 %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20840" y="1536192"/>
            <a:ext cx="4892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•   Публикуется с 1994 года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•   Самая цитируемая статистика в истории отрасли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•   Встречается в учебниках, презентациях вендоров, обоснованиях бюджетов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i="0">
                <a:solidFill>
                  <a:srgbClr val="C05A21"/>
                </a:solidFill>
                <a:latin typeface="Calibri"/>
              </a:rPr>
              <a:t>•   И, до сегодняшнего дня, в этом курсе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498848"/>
            <a:ext cx="11057839" cy="6858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599432"/>
            <a:ext cx="1065550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00" b="1" i="0">
                <a:solidFill>
                  <a:srgbClr val="1F3A53"/>
                </a:solidFill>
                <a:latin typeface="Calibri"/>
              </a:rPr>
              <a:t>Прежде чем пользоваться цифрой — стоит задать ей несколько вопросов. Разберём это на её собственном примере — прямо сейчас.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Разбор: что именно измерили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536192"/>
            <a:ext cx="11057839" cy="713232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645920"/>
            <a:ext cx="1050919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Успех = проект завершён в срок, в бюджет и со всей заявленной функциональностью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87168"/>
            <a:ext cx="11057839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Что из этого следует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•   измеряется не польза от системы, а точность первоначальной оценки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•   проект, принёсший деньги, но вышедший на два месяца позже, — «провал»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•   проект, где отказались от ненужной функции, — «провал»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•   команда, заложившая в оценку двойной запас, — «успех»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4645152"/>
            <a:ext cx="11057839" cy="658368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645152"/>
            <a:ext cx="43180" cy="658368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736592"/>
            <a:ext cx="1050919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Значит, показатель улучшается от завышения оценок.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9824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1">
                <a:solidFill>
                  <a:srgbClr val="6B7280"/>
                </a:solidFill>
                <a:latin typeface="Calibri"/>
              </a:rPr>
              <a:t>Отдельно: методика формирования выборки и исходные данные не опубликованы, а распределения заметно меняются от отчёта к отчёту.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Первый инструмент курса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36192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Цифра не отменяется — отменяется её бесконтрольное употребление.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11057839" cy="658368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084831"/>
            <a:ext cx="502920" cy="658368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231135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579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Что именно измерено?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4768" y="2176271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не как названо, а как посчитано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34639"/>
            <a:ext cx="11057839" cy="658368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834639"/>
            <a:ext cx="502920" cy="658368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980943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077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На какой выборке?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926079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кто в неё попал и кто не мог попасть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84447"/>
            <a:ext cx="11057839" cy="658368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584447"/>
            <a:ext cx="502920" cy="658368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1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57599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Кому выгоден такой результат?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3675887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кто заказывал и публиковал измерение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34255"/>
            <a:ext cx="11057839" cy="658368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334255"/>
            <a:ext cx="502920" cy="658368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480559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407407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Воспроизводимо ли это?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425695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есть ли данные, по которым можно проверить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212080"/>
            <a:ext cx="110578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Eveleens J. L., Verhoef C. The Rise and Fall of the Chaos Report Figures // IEEE Software. 2010. Vol. 27, № 1. P. 30–36.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614416"/>
            <a:ext cx="11057839" cy="54864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715000"/>
            <a:ext cx="1065550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1" i="0">
                <a:solidFill>
                  <a:srgbClr val="1F3A53"/>
                </a:solidFill>
                <a:latin typeface="Calibri"/>
              </a:rPr>
              <a:t>Это относится к любой цифре про производительность, качество и сроки — включая те, что вы услышите от меня.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Software Engineering Body of Knowledge, v4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1">
                <a:solidFill>
                  <a:srgbClr val="6B7280"/>
                </a:solidFill>
                <a:latin typeface="Calibri"/>
              </a:rPr>
              <a:t>Состав областей знаний привести по оригиналу IEEE 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36192"/>
          <a:ext cx="11057836" cy="2587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32818"/>
                <a:gridCol w="2632818"/>
                <a:gridCol w="2632818"/>
                <a:gridCol w="3159382"/>
              </a:tblGrid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Что строим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Как проверяем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Как организуем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На чём стоим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</a:tr>
              <a:tr h="214884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требования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проектирование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архитектура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конструирование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тестирование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качество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безопасность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управление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процесс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конфигурации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эксплуатация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сопровождение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экономика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вычислительные основы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математические основы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инженерные основы</a:t>
                      </a:r>
                    </a:p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профессиональная практика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4334256"/>
            <a:ext cx="11057839" cy="603504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434840"/>
            <a:ext cx="10655503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Это не программа курса, а карта области. За два семестра мы пройдём не всё.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84064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Группировка по смыслу — для читаемости. Порядок внутри стандарта другой.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v3 (2014)  →  v4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36192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Что добавилось в свод знаний за десять лет: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03120"/>
            <a:ext cx="11057839" cy="804672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43180" cy="804672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12848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Software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6032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 i="0">
                <a:solidFill>
                  <a:srgbClr val="6B7280"/>
                </a:solidFill>
                <a:latin typeface="Calibri"/>
              </a:rPr>
              <a:t>архитектура выделена в самостоятельную область знаний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17520"/>
            <a:ext cx="11057839" cy="804672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017520"/>
            <a:ext cx="43180" cy="804672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127248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Software Engineering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47472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 i="0">
                <a:solidFill>
                  <a:srgbClr val="6B7280"/>
                </a:solidFill>
                <a:latin typeface="Calibri"/>
              </a:rPr>
              <a:t>эксплуатация признана частью инженерии, а не смежной службой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931920"/>
            <a:ext cx="11057839" cy="804672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931920"/>
            <a:ext cx="43180" cy="804672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041648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900" b="1" i="0">
                <a:solidFill>
                  <a:srgbClr val="1F3A53"/>
                </a:solidFill>
                <a:latin typeface="Calibri"/>
              </a:rPr>
              <a:t>Software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38912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 i="0">
                <a:solidFill>
                  <a:srgbClr val="6B7280"/>
                </a:solidFill>
                <a:latin typeface="Calibri"/>
              </a:rPr>
              <a:t>безопасность вынесена из общего качества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956048"/>
            <a:ext cx="11057839" cy="1051560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5102352"/>
            <a:ext cx="1041775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Оба первых раздела — это ваш второй семестр.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>
                <a:solidFill>
                  <a:srgbClr val="9FB4CB"/>
                </a:solidFill>
                <a:latin typeface="Calibri"/>
              </a:rPr>
              <a:t>Эксплуатация — вторая половина первого.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Стадии жизненного цикла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536192"/>
          <a:ext cx="1105783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946"/>
                <a:gridCol w="3685946"/>
                <a:gridCol w="3685946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ISO/IEC/IEEE 12207:2017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ГОСТ Р 53622-2009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Сервисная модель (ITSM)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Формирование требований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Исследование и обоснование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Определение требований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Проектирование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Разработка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Проектирование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Реализация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Испытания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Ввод в действие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Тестирование, интеграция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Внедрение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Поддержка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Эксплуатация и сопровождение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Эксплуатация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Непрерывное улучшение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Вывод из эксплуатации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Снятие с эксплуатации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Вывод из эксплуатации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66928" y="4956048"/>
            <a:ext cx="11057839" cy="566928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5056632"/>
            <a:ext cx="1065550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Набор стадий примерно один и тот же. Отличаются границы и словарь.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Это не спор о том, кто прав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36192"/>
            <a:ext cx="11057839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Стандарт описывает, ЧТО должно быть сделано, — а не в каком порядке и не за сколько итераций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Одни и те же стадии можно пройти один раз (плановая модель) или сто раз по кусочку (итеративная)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Выбор модели — инженерное решение: у него есть цена и отвергнутая альтернатива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Спор «водопад против гибких методов» — спор не о стадиях, а о размере шага и о том, когда мы узнаём, что ошиблись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681728"/>
            <a:ext cx="11057839" cy="603504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4782312"/>
            <a:ext cx="10655503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 i="0">
                <a:solidFill>
                  <a:srgbClr val="1F3A53"/>
                </a:solidFill>
                <a:latin typeface="Calibri"/>
              </a:rPr>
              <a:t>Подробно — лекция 3. Сейчас важно, что выбор существует и он ваш.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Что мы пройдём за два семестра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536192"/>
          <a:ext cx="11057838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65637"/>
                <a:gridCol w="5792201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Семестр 1 — как организована работа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Семестр 2 — как устроена система</a:t>
                      </a:r>
                    </a:p>
                  </a:txBody>
                  <a:tcPr marL="118872" marR="91440" marT="45720" marB="45720" anchor="ctr">
                    <a:solidFill>
                      <a:srgbClr val="1F3A5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1. Предмет, жизненный цикл, карта курса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1. Бизнес-архитектура и стейкхолдеры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2. Требования: выявление и спецификация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2. Архитектура: модульность, стили, шаблоны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3. Управление разработкой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3. Микросервисы и распределённость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4. Оценка и работа с неопределённостью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4. Данные и их эволюция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5. Управление конфигурациями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5. Атрибуты качества систем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6. Тестирование и обеспечение качества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6. Паттерны проектирования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7. DevOps и непрерывная поставка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7. Рефакторинг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8. Эксплуатация: инциденты и надёжность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8. Мониторинг и наблюдаемость</a:t>
                      </a:r>
                    </a:p>
                  </a:txBody>
                  <a:tcPr marL="118872" marR="91440" marT="45720" marB="45720" anchor="ctr"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9. Изменения, релизы и эволюция системы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9. Метрики качества кода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 i="0">
                <a:solidFill>
                  <a:srgbClr val="1F3A53"/>
                </a:solidFill>
                <a:latin typeface="Calibri"/>
              </a:rPr>
              <a:t>Организация курса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16152"/>
            <a:ext cx="1325880" cy="40640"/>
          </a:xfrm>
          <a:prstGeom prst="rect">
            <a:avLst/>
          </a:prstGeom>
          <a:solidFill>
            <a:srgbClr val="C05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1">
                <a:solidFill>
                  <a:srgbClr val="6B7280"/>
                </a:solidFill>
                <a:latin typeface="Calibri"/>
              </a:rPr>
              <a:t>Заполнить по своим правилам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36192"/>
            <a:ext cx="11057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Лекции — весь поток. Семинары — по группам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Что сдаётся в течение семестра и в какие сроки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Как формируется оценка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Форма итогового контроля; что можно брать с собой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 i="0">
                <a:solidFill>
                  <a:srgbClr val="2B2B2B"/>
                </a:solidFill>
                <a:latin typeface="Calibri"/>
              </a:rPr>
              <a:t>•   Литература: SWEBOK v4 как справочник, остальное — по темам, на каждой лекции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443984"/>
            <a:ext cx="11057839" cy="1417320"/>
          </a:xfrm>
          <a:prstGeom prst="rect">
            <a:avLst/>
          </a:prstGeom>
          <a:solidFill>
            <a:srgbClr val="1F3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4590288"/>
            <a:ext cx="10417759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Чего это стоило  ·  От чего отказались  ·  Как узнаем, что сломалось  ·  Кто решил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 i="0">
                <a:solidFill>
                  <a:srgbClr val="9FB4CB"/>
                </a:solidFill>
                <a:latin typeface="Calibri"/>
              </a:rPr>
              <a:t>Весь курс — про то, как отвечать на эти вопросы в разных ситуациях.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 i="0">
                <a:solidFill>
                  <a:srgbClr val="9FB4CB"/>
                </a:solidFill>
                <a:latin typeface="Calibri"/>
              </a:rPr>
              <a:t>Второй семестр — про то, как эти ответы выглядят внутри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Программная инженерия  ·  Лекция 1. Предмет, жизненный цикл, карта курса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382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