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slide" Target="slides/slide9.xml" /><Relationship Id="rId17" Type="http://schemas.openxmlformats.org/officeDocument/2006/relationships/slide" Target="slides/slide10.xml" /><Relationship Id="rId18" Type="http://schemas.openxmlformats.org/officeDocument/2006/relationships/slide" Target="slides/slide11.xml" /><Relationship Id="rId19" Type="http://schemas.openxmlformats.org/officeDocument/2006/relationships/slide" Target="slides/slide12.xml" /><Relationship Id="rId20" Type="http://schemas.openxmlformats.org/officeDocument/2006/relationships/slide" Target="slides/slide13.xml" /><Relationship Id="rId21" Type="http://schemas.openxmlformats.org/officeDocument/2006/relationships/slide" Target="slides/slide14.xml" /><Relationship Id="rId22" Type="http://schemas.openxmlformats.org/officeDocument/2006/relationships/slide" Target="slides/slide15.xml" /><Relationship Id="rId23" Type="http://schemas.openxmlformats.org/officeDocument/2006/relationships/slide" Target="slides/slide16.xml" /><Relationship Id="rId24" Type="http://schemas.openxmlformats.org/officeDocument/2006/relationships/slide" Target="slides/slide17.xml" /><Relationship Id="rId25" Type="http://schemas.openxmlformats.org/officeDocument/2006/relationships/slide" Target="slides/slide18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1284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9FB4CB"/>
                </a:solidFill>
                <a:latin typeface="Calibri"/>
              </a:rPr>
              <a:t>ПРОГРАММНАЯ 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578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Лекция 3.  Управление разработкой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F3A53"/>
                </a:solidFill>
                <a:latin typeface="Calibri"/>
              </a:rPr>
              <a:t>Плановые модели, гибкие модели, масштаб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56432"/>
            <a:ext cx="8595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Не «какой подход правильный», а от чего зависит выбор.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Ось лекции — размер шага между решением и обратной связью.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Маслов Сергей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Кто из них узнает раньше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11430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645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Команда 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2968" y="2066544"/>
            <a:ext cx="27432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2968" y="21579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Анализ и проектирование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7608" y="2066544"/>
            <a:ext cx="41148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7608" y="215798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Разработка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13848" y="2066544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13848" y="215798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Тест и сдача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103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точек обратной связи: 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52928"/>
            <a:ext cx="11057839" cy="11430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96265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Команда 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3383280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3474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цикл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3383280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474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цикл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3383280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474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цикл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99247" y="3383280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3474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цикл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3383280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3474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цикл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16768" y="3383280"/>
            <a:ext cx="1371600" cy="4572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16768" y="3474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цикл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41985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точек обратной связи: 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187952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1">
                <a:solidFill>
                  <a:srgbClr val="6B7280"/>
                </a:solidFill>
                <a:latin typeface="Calibri"/>
              </a:rPr>
              <a:t>Обе команды сделали одну и ту же ошибку в понимании задачи на второй неделе.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81728"/>
            <a:ext cx="11057839" cy="73152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782312"/>
            <a:ext cx="1065550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3A53"/>
                </a:solidFill>
                <a:latin typeface="Calibri"/>
              </a:rPr>
              <a:t>А узнала об этом на шестом месяце.   Б — на четвёртой неделе.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Размер шага между решением и обратной связью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47548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91056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◄  БОЛЬШОЙ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2847" y="1591056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МАЛЫЙ ШАГ  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212848"/>
          <a:ext cx="1105783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1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Большой шаг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Малый шаг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решение → результат → проверка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занимают месяцы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недели или дни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координация дешёвая: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план один, все ему следуют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координация дорогая: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договариваться приходится постоянно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ошибка дорогая: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обнаруживается поздно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ошибка дешёвая: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обнаруживается быстро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нужен доступный заранее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полный объём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нужен доступный постоянно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заказчик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5175504"/>
            <a:ext cx="11057839" cy="603504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76088"/>
            <a:ext cx="10655503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У обоих концов оси есть цена, и она разная. Всё остальное в лекции — следствия выбора.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Две разные постановки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724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19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Проект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Продукт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временное предприятие с началом и концом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живёт, пока им пользуются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успех — уложились в содержание, срок, бюджет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успех — пользуются и получают ценность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команда собирается и расходится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команда сопровождает то, что построила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«сдали и забыли»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Calibri"/>
                        </a:rPr>
                        <a:t>«сдали и живём с этим»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864608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965192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Большая часть разработки в 2026 году — это продукты,
которые описывают и финансируют как проекты. Отсюда половина организационных конфликтов.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Свод знаний по управлению проектами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Формулировки принципов и доменов — по оригиналу PMBOK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57839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27632"/>
            <a:ext cx="105091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PMBOK 7 (2021):  12 принципов  +  8 доменов исполнения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505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Восемь доменов исполнения — области, в которых идёт работа: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89504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889504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054096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заинтересованные
стороны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2889504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2889504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054096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команда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9504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889504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054096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подход к разработке
и жизненный цикл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2889504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2889504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3054096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планирование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30752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30752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895344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работа проекта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92424" y="3730752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92424" y="3730752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3895344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поставка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30752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30752"/>
            <a:ext cx="277063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895344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измерение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3416" y="3730752"/>
            <a:ext cx="2770632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43416" y="3730752"/>
            <a:ext cx="2770632" cy="3810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3895344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неопределённость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736592"/>
            <a:ext cx="11057839" cy="82296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837176"/>
            <a:ext cx="1065550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Это не методология и не инструкция. Это словарь и набор ориентиров,
которые каждая организация настраивает под себя.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Стандарт, который отказался от собственной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PMBOK 5 (2013)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PMBOK 6 (2017)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PMBOK 7 (2021)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47 процессов, 5 групп,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10 областей знаний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49 процессов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1">
                          <a:solidFill>
                            <a:srgbClr val="C05A21"/>
                          </a:solidFill>
                          <a:latin typeface="Calibri"/>
                        </a:rPr>
                        <a:t>процессной модели нет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«делай эти процессы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в этом порядке»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то же, плюс раздел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про гибкие подходы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12 принципов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+ 8 доменов исполнения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059936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160520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За восемь лет свод знаний по управлению проектами отказался
от описания работы через список процессов.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38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Перечислимый процесс работает там, где работа повторяема. Когда выяснилось, что проекты слишком разные, стандарт перешёл к принципам — то есть к тому, что требует решения на месте, а не следования шагам.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Ограничения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810512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1810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2450592" y="1536192"/>
            <a:ext cx="1810512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1719072"/>
            <a:ext cx="1810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качество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1536192"/>
            <a:ext cx="1810512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719072"/>
            <a:ext cx="1810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расписание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36192"/>
            <a:ext cx="1810512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19072"/>
            <a:ext cx="1810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бюджет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536192"/>
            <a:ext cx="1810512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4" y="1719072"/>
            <a:ext cx="1810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ресурсы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1536192"/>
            <a:ext cx="1810512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5248" y="1719072"/>
            <a:ext cx="1810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риски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Ограничения связаны. Изменение любого требует размена с остальными: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71216"/>
            <a:ext cx="1105783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сократили срок → уменьшили содержание, или добавили людей, или приняли риск, или пожертвовали качеством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добавили содержание при том же сроке → одно из остальных пяти обязательно поедет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24528"/>
            <a:ext cx="11057839" cy="68580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325112"/>
            <a:ext cx="1065550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«Успеем всё и в срок, ничего не меняя» — не решение, а отказ от решения.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38928"/>
            <a:ext cx="110578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Из первой лекции: «от чего пришлось отказаться» — второй из четырёх вопросов. Ограничения проекта и есть перечень того, чем можно жертвовать.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Ещё один взгляд на плановое управление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62179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457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PRINCE2 описывает не инструменты, а управленческий каркас: кто за что отвечает и кто что утверждает.  7 принципов, 7 процессов, 7 тем.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Две идеи, работающие и вне PRINCE2: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816352"/>
            <a:ext cx="11057839" cy="10241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816352"/>
            <a:ext cx="43180" cy="102412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260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Управление по исключениям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735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Руководителю выданы допуски по срокам, бюджету и содержанию. Пока он в допусках — он не отчитывается и его не трогают. Вышел за допуск — обязан немедленно сообщить и предложить выход.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50208"/>
            <a:ext cx="11057839" cy="10241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950208"/>
            <a:ext cx="43180" cy="102412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059936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Постоянная проверка целесообразности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40740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На каждом этапе заново отвечают на вопрос, стоит ли проект продолжать. Право закрыть проект — часть управления им.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75504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276088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В российской практике разработки PRINCE2 встречается редко. Обе идеи выше — постоянно.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Agile: не лозунги, а размены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0993"/>
                <a:gridCol w="3064220"/>
                <a:gridCol w="5062625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Ценим выше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Не отменяя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Что это значит на практике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Люди и взаимодействие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процессы и инструменты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процесс не заменит разговор между теми, кто делает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Работающий продукт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исчерпывающую документацию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документ, который никто не читает, не является результатом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Сотрудничество с заказчиком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согласование условий контракта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контракт нужен, но он не источник истины о задаче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Готовность к изменениям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следование плану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план — гипотеза, а не обязательство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681728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782312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«Не отрицая важности того, что справа». Манифест — про приоритет при конфликте,
а не про отмену правого столбца.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Итерации и инкременты — не одно и то же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7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459"/>
                <a:gridCol w="4146689"/>
                <a:gridCol w="414668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Итеративно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Инкрементально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Что делаем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улучшаем одно и то же по кругу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добавляем части к целому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Аналогия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эскиз → набросок → готовая картина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сначала одна комната, потом вторая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Что даёт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уточнение при неясном результате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ранняя польза от готовой части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Риск в одиночку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улучшаем то, что вообще не нужно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построили половину дома без крыши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590288"/>
            <a:ext cx="11057839" cy="82296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690872"/>
            <a:ext cx="1065550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Нужны оба. Инкрементально выпускаем части,
итеративно доводим каждую до нужного качества.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 чём на самом деле двенадцать принципов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6" cy="27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Про поставку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Про людей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Про темп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Про качество и обучение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ранняя и частая поставка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ценного ПО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мотивированные люди,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которым доверяют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устойчивый темп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без переработок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внимание техническому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совершенству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приветствие изменений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даже поздно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ежедневное общение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с заказчиком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простота — искусство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не делать лишнего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самоорганизующиеся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команды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работающее ПО —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главный измеритель прогресса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личный разговор — лучший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способ передачи информации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регулярный пересмотр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того, как работаем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626864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727448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Устойчивый темп — единственный пункт, который в индустрии нарушают почти всегда.
Переработка это заём под проценты: скорость сегодня за счёт скорости через месяц.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Scrum за один слайд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7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7044"/>
                <a:gridCol w="3567044"/>
                <a:gridCol w="3923749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Роли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Артефакты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События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Владелец продукта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отвечает за то, ЧТО делаем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и в каком порядке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Бэклог продукта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упорядоченный список того,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что может понадобиться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Планирование спринта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что берём и почему это выполнимо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Скрам-мастер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отвечает, чтобы процесс работал,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убирает препятствия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Бэклог спринта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что взяли в этот цикл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Ежедневная встреча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15 минут, синхронизация, не отчёт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Команда разработки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отвечает за то, КАК делаем,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кросс-функциональна, 5–9 человек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Инкремент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работающая часть продукта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в конце спринта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Обзор спринта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показываем, собираем обратную связь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Ретроспектива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что меняем в способе работы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901184"/>
            <a:ext cx="11057839" cy="82296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5001768"/>
            <a:ext cx="1065550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Спринт — цикл фиксированной длины. Длина не меняется от спринта к спринту:
это единица измерения.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Что ломается чаще всего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7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0905"/>
                <a:gridCol w="3455574"/>
                <a:gridCol w="4561358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Форма соблюдена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Сути нет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Признак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Спринты идут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в конце спринта нечего показать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инкремент не работает целиком,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«покажем в следующем»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Ежедневная встреча проводится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это отчёт руководителю о занятости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говорят начальнику, а не друг другу;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длится 40 минут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Ретроспективы проводятся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решения не выполняются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одни и те же проблемы третий раз подряд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Бэклог есть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он не упорядочен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«всё важно», приоритеты выставляет тот,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кто громче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Владелец продукта назначен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он не может принять решение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по каждому вопросу уходит согласовывать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828032"/>
            <a:ext cx="11057839" cy="65836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928616"/>
            <a:ext cx="1065550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Процесс без обратной связи — не процесс, а расписание встреч.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Kanban: поток вместо цикла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62179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40640" cy="62179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91056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Визуализировать работу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591056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этапы — колонки, задачи — карточки; видно, где что стоит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49424"/>
            <a:ext cx="11057839" cy="62179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49424"/>
            <a:ext cx="40640" cy="62179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Ограничить незавершённое (WIP)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30428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на каждом этапе не больше N карточек. Главное правило, остальные — следствия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962656"/>
            <a:ext cx="11057839" cy="62179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62656"/>
            <a:ext cx="40640" cy="62179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17520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Вытягивание, а не проталкивание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01752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новая работа берётся, когда освободилось место, а не когда её принесли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75888"/>
            <a:ext cx="11057839" cy="62179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675888"/>
            <a:ext cx="40640" cy="62179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730752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Улучшать поток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730752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смотреть, где карточки стоят дольше всего, и убирать причину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80560"/>
            <a:ext cx="11057839" cy="12344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80560"/>
            <a:ext cx="43180" cy="12344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90288"/>
            <a:ext cx="1050919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Что даёт ограничение WIP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Затор становится видимым сразу. Если в колонке «тестирование» лимит 3 и он выбран — разработчики не могут начать новое, и им приходится помочь с тестированием.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C05A21"/>
                </a:solidFill>
                <a:latin typeface="Calibri"/>
              </a:rPr>
              <a:t>Система заставляет заканчивать, а не начинать.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Когда какой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7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459"/>
                <a:gridCol w="3870243"/>
                <a:gridCol w="4423135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Условие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Скорее Scrum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Скорее Kanban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Характер работы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можно планировать на 2 недели вперёд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приоритеты меняются в течение дня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Типовой источник задач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продуктовый бэклог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входящий поток: заявки, инциденты, поддержка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Размер задач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сопоставимый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очень разный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Что нужно команде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ритм и защита от вмешательства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гибкость и видимость затора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Состав команды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стабильный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меняющийся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626864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727448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Существенно не название, а две вещи: ограничена ли незавершённая работа
и когда команда узнаёт, что ошиблась.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632704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Смешанные варианты — норма.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Кому подчиняется разработчик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6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8203"/>
                <a:gridCol w="2168203"/>
                <a:gridCol w="2168203"/>
                <a:gridCol w="2385024"/>
                <a:gridCol w="2168203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Функциональная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Слабая матрица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Сбалансированная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матрица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Сильная матрица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Проектная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Власть у руководителя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отдела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Координатор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без полномочий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Двойное подчинение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Руководитель проекта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сильнее функционального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Команда полностью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в проекте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Проект — нагрузка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сверх основной работы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Конфликт приоритетов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постоянный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Вне проекта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человека нет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224528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325112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Матричные структуры дают конфликт приоритетов не по недосмотру, а по устройству.
Вопрос не «как его избежать», а «кто его разрешает и как быстро».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66944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На собеседовании стоит спрашивать не «у вас Agile?», а «кто ставит мне задачи и кто согласовывает мой отпуск». Если это разные люди — вы в матрице.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Что ломается, когда команд становится много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27632"/>
            <a:ext cx="105091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Одна команда из 7 человек: 21 канал связи.   Пять команд по 7: 595.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5669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Что появляется при росте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зависимости между командами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общая архитектура, которой никто не владеет целиком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синхронизация релизов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расхождение приоритетов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95728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Ответы индустрии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SAFe, LeSS, Nexus и другие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Все делают одно: добавляют надстройку над командами — общее планирование, общий ритм, роли координации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15968"/>
            <a:ext cx="11057839" cy="91440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315968"/>
            <a:ext cx="43180" cy="91440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425696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Цена надстройки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Возврат к большому шагу на верхнем уровне: команда работает двухнедельными циклами, а планирование идёт кварталами. Часть выигрыша теряется — сознательно.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76672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Прежде чем масштабировать процесс, стоит проверить, нельзя ли уменьшить связанность между командами. Это вопрос архитектуры — второй семестр.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Выбор процесса — инженерное 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Выбор точки на оси определяют: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75104"/>
            <a:ext cx="11057839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75104"/>
            <a:ext cx="40640" cy="56692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Доступность заказчика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2029968"/>
            <a:ext cx="6675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есть ли кому давать обратную связь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33472"/>
            <a:ext cx="11057839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40640" cy="56692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88336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Цена изменения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688336"/>
            <a:ext cx="6675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сколько стоит переделать, если ошиблись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91840"/>
            <a:ext cx="11057839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91840"/>
            <a:ext cx="40640" cy="56692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4670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Обязательства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346704"/>
            <a:ext cx="6675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фиксирован ли объём контрактом или регламентом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50208"/>
            <a:ext cx="11057839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950208"/>
            <a:ext cx="40640" cy="56692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05072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Зрелость команды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4005072"/>
            <a:ext cx="6675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умеют ли договариваться каждые две недели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63440"/>
            <a:ext cx="11057839" cy="6400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64024"/>
            <a:ext cx="1065550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Признак того, что процесс выбран неверно: работа идёт, а обратной связи нет.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468112"/>
            <a:ext cx="11057839" cy="7772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559552"/>
            <a:ext cx="104177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Процесс не бывает правильным сам по себе. Он бывает подходящим к условиям.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3. Управление разработкой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