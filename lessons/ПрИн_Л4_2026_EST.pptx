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Relationships xmlns="http://schemas.openxmlformats.org/package/2006/relationships"><Relationship Id="rId1" Type="http://schemas.openxmlformats.org/officeDocument/2006/relationships/slideMaster" Target="slideMasters/slideMaster1.xml" /><Relationship Id="rId2" Type="http://schemas.openxmlformats.org/officeDocument/2006/relationships/printerSettings" Target="printerSettings/printerSettings1.bin" /><Relationship Id="rId3" Type="http://schemas.openxmlformats.org/officeDocument/2006/relationships/presProps" Target="presProps.xml" /><Relationship Id="rId4" Type="http://schemas.openxmlformats.org/officeDocument/2006/relationships/viewProps" Target="viewProps.xml" /><Relationship Id="rId5" Type="http://schemas.openxmlformats.org/officeDocument/2006/relationships/theme" Target="theme/theme1.xml" /><Relationship Id="rId6" Type="http://schemas.openxmlformats.org/officeDocument/2006/relationships/tableStyles" Target="tableStyles.xml" /><Relationship Id="rId7" Type="http://schemas.openxmlformats.org/officeDocument/2006/relationships/slide" Target="slides/slide1.xml" /><Relationship Id="rId9" Type="http://schemas.openxmlformats.org/officeDocument/2006/relationships/slide" Target="slides/slide2.xml" /><Relationship Id="rId10" Type="http://schemas.openxmlformats.org/officeDocument/2006/relationships/slide" Target="slides/slide3.xml" /><Relationship Id="rId11" Type="http://schemas.openxmlformats.org/officeDocument/2006/relationships/slide" Target="slides/slide4.xml" /><Relationship Id="rId12" Type="http://schemas.openxmlformats.org/officeDocument/2006/relationships/slide" Target="slides/slide5.xml" /><Relationship Id="rId13" Type="http://schemas.openxmlformats.org/officeDocument/2006/relationships/slide" Target="slides/slide6.xml" /><Relationship Id="rId14" Type="http://schemas.openxmlformats.org/officeDocument/2006/relationships/slide" Target="slides/slide7.xml" /><Relationship Id="rId15" Type="http://schemas.openxmlformats.org/officeDocument/2006/relationships/slide" Target="slides/slide8.xml" /><Relationship Id="rId16" Type="http://schemas.openxmlformats.org/officeDocument/2006/relationships/slide" Target="slides/slide9.xml" /><Relationship Id="rId17" Type="http://schemas.openxmlformats.org/officeDocument/2006/relationships/slide" Target="slides/slide10.xml" /><Relationship Id="rId18" Type="http://schemas.openxmlformats.org/officeDocument/2006/relationships/slide" Target="slides/slide11.xml" /><Relationship Id="rId19" Type="http://schemas.openxmlformats.org/officeDocument/2006/relationships/slide" Target="slides/slide12.xml" /><Relationship Id="rId20" Type="http://schemas.openxmlformats.org/officeDocument/2006/relationships/slide" Target="slides/slide13.xml" /><Relationship Id="rId21" Type="http://schemas.openxmlformats.org/officeDocument/2006/relationships/slide" Target="slides/slide14.xml" /><Relationship Id="rId22" Type="http://schemas.openxmlformats.org/officeDocument/2006/relationships/slide" Target="slides/slide15.xml" /><Relationship Id="rId23" Type="http://schemas.openxmlformats.org/officeDocument/2006/relationships/slide" Target="slides/slide16.xml" 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12848"/>
          </a:xfrm>
          <a:prstGeom prst="rect">
            <a:avLst/>
          </a:prstGeom>
          <a:solidFill>
            <a:srgbClr val="1F3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105783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00" b="1" i="0">
                <a:solidFill>
                  <a:srgbClr val="9FB4CB"/>
                </a:solidFill>
                <a:latin typeface="Calibri"/>
              </a:rPr>
              <a:t>ПРОГРАММНАЯ ИНЖЕНЕРИЯ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24128"/>
            <a:ext cx="11057839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Лекция 4.  Оценка и планирование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542032"/>
            <a:ext cx="1105783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2300" b="1" i="0">
                <a:solidFill>
                  <a:srgbClr val="1F3A53"/>
                </a:solidFill>
                <a:latin typeface="Calibri"/>
              </a:rPr>
              <a:t>Работа с неопределённостью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3127248"/>
            <a:ext cx="1325880" cy="40640"/>
          </a:xfrm>
          <a:prstGeom prst="rect">
            <a:avLst/>
          </a:prstGeom>
          <a:solidFill>
            <a:srgbClr val="C05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3456432"/>
            <a:ext cx="859536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Оценка — не предсказание, а решение при неполной информации.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У неё есть цена ошибки и признак того, что она не сбывается.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5806440"/>
            <a:ext cx="1105783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Маслов Сергей Сергеевич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3000" b="1" i="0">
                <a:solidFill>
                  <a:srgbClr val="1F3A53"/>
                </a:solidFill>
                <a:latin typeface="Calibri"/>
              </a:rPr>
              <a:t>Оценка за две минуты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16152"/>
            <a:ext cx="1325880" cy="40640"/>
          </a:xfrm>
          <a:prstGeom prst="rect">
            <a:avLst/>
          </a:prstGeom>
          <a:solidFill>
            <a:srgbClr val="C05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536192"/>
            <a:ext cx="11057839" cy="1417320"/>
          </a:xfrm>
          <a:prstGeom prst="rect">
            <a:avLst/>
          </a:prstGeom>
          <a:solidFill>
            <a:srgbClr val="F1F4F7"/>
          </a:solidFill>
          <a:ln w="15875">
            <a:solidFill>
              <a:srgbClr val="1F3A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682496"/>
            <a:ext cx="10509199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1" i="0">
                <a:solidFill>
                  <a:srgbClr val="1F3A53"/>
                </a:solidFill>
                <a:latin typeface="Calibri"/>
              </a:rPr>
              <a:t>Задача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В существующем веб-приложении добавить экспорт списка заказов в Excel. Список уже есть на экране, фильтры работают. Нужно: кнопка, формирование файла, выгрузка. Разработчик знаком с проектом.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3127248"/>
            <a:ext cx="11057839" cy="658368"/>
          </a:xfrm>
          <a:prstGeom prst="rect">
            <a:avLst/>
          </a:prstGeom>
          <a:solidFill>
            <a:srgbClr val="1F3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3218688"/>
            <a:ext cx="1050919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900" b="1" i="0">
                <a:solidFill>
                  <a:srgbClr val="FFFFFF"/>
                </a:solidFill>
                <a:latin typeface="Calibri"/>
              </a:rPr>
              <a:t>Сколько это займёт? Напишите одно число в часах. Никому не показывайте.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4059936"/>
            <a:ext cx="110578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00" b="1" i="0">
                <a:solidFill>
                  <a:srgbClr val="1F3A53"/>
                </a:solidFill>
                <a:latin typeface="Calibri"/>
              </a:rPr>
              <a:t>Распределение ответов группы: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4443984"/>
            <a:ext cx="2212848" cy="1051560"/>
          </a:xfrm>
          <a:prstGeom prst="rect">
            <a:avLst/>
          </a:prstGeom>
          <a:solidFill>
            <a:srgbClr val="FFFFFF"/>
          </a:solidFill>
          <a:ln w="15875">
            <a:solidFill>
              <a:srgbClr val="E4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5175504"/>
            <a:ext cx="22128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700"/>
              </a:spcAft>
            </a:pPr>
            <a:r>
              <a:rPr sz="1300" b="0" i="0">
                <a:solidFill>
                  <a:srgbClr val="6B7280"/>
                </a:solidFill>
                <a:latin typeface="Calibri"/>
              </a:rPr>
              <a:t>до 4 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34640" y="4443984"/>
            <a:ext cx="2212848" cy="1051560"/>
          </a:xfrm>
          <a:prstGeom prst="rect">
            <a:avLst/>
          </a:prstGeom>
          <a:solidFill>
            <a:srgbClr val="FFFFFF"/>
          </a:solidFill>
          <a:ln w="15875">
            <a:solidFill>
              <a:srgbClr val="E4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34640" y="5175504"/>
            <a:ext cx="22128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700"/>
              </a:spcAft>
            </a:pPr>
            <a:r>
              <a:rPr sz="1300" b="0" i="0">
                <a:solidFill>
                  <a:srgbClr val="6B7280"/>
                </a:solidFill>
                <a:latin typeface="Calibri"/>
              </a:rPr>
              <a:t>4–8 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02352" y="4443984"/>
            <a:ext cx="2212848" cy="1051560"/>
          </a:xfrm>
          <a:prstGeom prst="rect">
            <a:avLst/>
          </a:prstGeom>
          <a:solidFill>
            <a:srgbClr val="FFFFFF"/>
          </a:solidFill>
          <a:ln w="15875">
            <a:solidFill>
              <a:srgbClr val="E4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02352" y="5175504"/>
            <a:ext cx="22128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700"/>
              </a:spcAft>
            </a:pPr>
            <a:r>
              <a:rPr sz="1300" b="0" i="0">
                <a:solidFill>
                  <a:srgbClr val="6B7280"/>
                </a:solidFill>
                <a:latin typeface="Calibri"/>
              </a:rPr>
              <a:t>8–16 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70064" y="4443984"/>
            <a:ext cx="2212848" cy="1051560"/>
          </a:xfrm>
          <a:prstGeom prst="rect">
            <a:avLst/>
          </a:prstGeom>
          <a:solidFill>
            <a:srgbClr val="FFFFFF"/>
          </a:solidFill>
          <a:ln w="15875">
            <a:solidFill>
              <a:srgbClr val="E4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70064" y="5175504"/>
            <a:ext cx="22128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700"/>
              </a:spcAft>
            </a:pPr>
            <a:r>
              <a:rPr sz="1300" b="0" i="0">
                <a:solidFill>
                  <a:srgbClr val="6B7280"/>
                </a:solidFill>
                <a:latin typeface="Calibri"/>
              </a:rPr>
              <a:t>16–40 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37776" y="4443984"/>
            <a:ext cx="2212848" cy="1051560"/>
          </a:xfrm>
          <a:prstGeom prst="rect">
            <a:avLst/>
          </a:prstGeom>
          <a:solidFill>
            <a:srgbClr val="FFFFFF"/>
          </a:solidFill>
          <a:ln w="15875">
            <a:solidFill>
              <a:srgbClr val="E4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37776" y="5175504"/>
            <a:ext cx="22128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700"/>
              </a:spcAft>
            </a:pPr>
            <a:r>
              <a:rPr sz="1300" b="0" i="0">
                <a:solidFill>
                  <a:srgbClr val="6B7280"/>
                </a:solidFill>
                <a:latin typeface="Calibri"/>
              </a:rPr>
              <a:t>больше 40 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382512"/>
            <a:ext cx="8778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Программная инженерия  ·  Лекция 4. Оценка и работа с неопределённостью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10367" y="638251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3000" b="1" i="0">
                <a:solidFill>
                  <a:srgbClr val="1F3A53"/>
                </a:solidFill>
                <a:latin typeface="Calibri"/>
              </a:rPr>
              <a:t>Что именно мы оцениваем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16152"/>
            <a:ext cx="1325880" cy="40640"/>
          </a:xfrm>
          <a:prstGeom prst="rect">
            <a:avLst/>
          </a:prstGeom>
          <a:solidFill>
            <a:srgbClr val="C05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536192"/>
          <a:ext cx="11057837" cy="22677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29544"/>
                <a:gridCol w="3483976"/>
                <a:gridCol w="4544317"/>
              </a:tblGrid>
              <a:tr h="457200"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Объём</a:t>
                      </a:r>
                    </a:p>
                  </a:txBody>
                  <a:tcPr marL="118872" marR="91440" marT="45720" marB="45720" anchor="ctr">
                    <a:solidFill>
                      <a:srgbClr val="1F3A5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Трудоёмкость</a:t>
                      </a:r>
                    </a:p>
                  </a:txBody>
                  <a:tcPr marL="118872" marR="91440" marT="45720" marB="45720" anchor="ctr">
                    <a:solidFill>
                      <a:srgbClr val="1F3A5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Срок</a:t>
                      </a:r>
                    </a:p>
                  </a:txBody>
                  <a:tcPr marL="118872" marR="91440" marT="45720" marB="45720" anchor="ctr">
                    <a:solidFill>
                      <a:srgbClr val="1F3A53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00" b="0">
                          <a:solidFill>
                            <a:srgbClr val="2B2B2B"/>
                          </a:solidFill>
                          <a:latin typeface="Calibri"/>
                        </a:rPr>
                        <a:t>Сколько работы в задаче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00" b="0">
                          <a:solidFill>
                            <a:srgbClr val="2B2B2B"/>
                          </a:solidFill>
                          <a:latin typeface="Calibri"/>
                        </a:rPr>
                        <a:t>Сколько человеко-часов уйдёт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00" b="0">
                          <a:solidFill>
                            <a:srgbClr val="2B2B2B"/>
                          </a:solidFill>
                          <a:latin typeface="Calibri"/>
                        </a:rPr>
                        <a:t>Когда будет готово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00" b="0">
                          <a:solidFill>
                            <a:srgbClr val="2B2B2B"/>
                          </a:solidFill>
                          <a:latin typeface="Calibri"/>
                        </a:rPr>
                        <a:t>свойство задачи</a:t>
                      </a:r>
                    </a:p>
                  </a:txBody>
                  <a:tcPr marL="118872" marR="91440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00" b="0">
                          <a:solidFill>
                            <a:srgbClr val="2B2B2B"/>
                          </a:solidFill>
                          <a:latin typeface="Calibri"/>
                        </a:rPr>
                        <a:t>зависит от того, кто делает</a:t>
                      </a:r>
                    </a:p>
                  </a:txBody>
                  <a:tcPr marL="118872" marR="91440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00" b="0">
                          <a:solidFill>
                            <a:srgbClr val="2B2B2B"/>
                          </a:solidFill>
                          <a:latin typeface="Calibri"/>
                        </a:rPr>
                        <a:t>зависит ещё и от очереди, зависимостей,</a:t>
                      </a:r>
                    </a:p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00" b="0">
                          <a:solidFill>
                            <a:srgbClr val="2B2B2B"/>
                          </a:solidFill>
                          <a:latin typeface="Calibri"/>
                        </a:rPr>
                        <a:t>отпусков, ожидания ревью</a:t>
                      </a:r>
                    </a:p>
                  </a:txBody>
                  <a:tcPr marL="118872" marR="91440" marT="45720" marB="45720" anchor="ctr">
                    <a:solidFill>
                      <a:srgbClr val="F1F4F7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00" b="0">
                          <a:solidFill>
                            <a:srgbClr val="2B2B2B"/>
                          </a:solidFill>
                          <a:latin typeface="Calibri"/>
                        </a:rPr>
                        <a:t>относительно устойчив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00" b="0">
                          <a:solidFill>
                            <a:srgbClr val="2B2B2B"/>
                          </a:solidFill>
                          <a:latin typeface="Calibri"/>
                        </a:rPr>
                        <a:t>меняется в разы между людьми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00" b="0">
                          <a:solidFill>
                            <a:srgbClr val="2B2B2B"/>
                          </a:solidFill>
                          <a:latin typeface="Calibri"/>
                        </a:rPr>
                        <a:t>меньше всего зависит</a:t>
                      </a:r>
                    </a:p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00" b="0">
                          <a:solidFill>
                            <a:srgbClr val="2B2B2B"/>
                          </a:solidFill>
                          <a:latin typeface="Calibri"/>
                        </a:rPr>
                        <a:t>от написания кода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66928" y="4443984"/>
            <a:ext cx="11057839" cy="868680"/>
          </a:xfrm>
          <a:prstGeom prst="rect">
            <a:avLst/>
          </a:prstGeom>
          <a:solidFill>
            <a:srgbClr val="E4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4544568"/>
            <a:ext cx="10655503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00" b="1" i="0">
                <a:solidFill>
                  <a:srgbClr val="1F3A53"/>
                </a:solidFill>
                <a:latin typeface="Calibri"/>
              </a:rPr>
              <a:t>«Сколько это займёт?» и «когда это будет?» — разные вопросы.
Второй почти никогда не про скорость написания кода.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504688"/>
            <a:ext cx="1105783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450" b="0" i="1">
                <a:solidFill>
                  <a:srgbClr val="6B7280"/>
                </a:solidFill>
                <a:latin typeface="Calibri"/>
              </a:rPr>
              <a:t>Задача на 4 часа работы: ревью ждёт два дня, выкатка по регламенту в четверг. Трудоёмкость 4 часа, срок — неделя. Оба числа верны.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382512"/>
            <a:ext cx="8778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Программная инженерия  ·  Лекция 4. Оценка и работа с неопределённостью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10367" y="638251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3000" b="1" i="0">
                <a:solidFill>
                  <a:srgbClr val="1F3A53"/>
                </a:solidFill>
                <a:latin typeface="Calibri"/>
              </a:rPr>
              <a:t>Ошибка в одну сторону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16152"/>
            <a:ext cx="1325880" cy="40640"/>
          </a:xfrm>
          <a:prstGeom prst="rect">
            <a:avLst/>
          </a:prstGeom>
          <a:solidFill>
            <a:srgbClr val="C05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536192"/>
            <a:ext cx="110578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00" b="0" i="0">
                <a:solidFill>
                  <a:srgbClr val="2B2B2B"/>
                </a:solidFill>
                <a:latin typeface="Calibri"/>
              </a:rPr>
              <a:t>Оценки ошибаются не случайно. Они смещены вниз, и причины складываются: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993392"/>
          <a:ext cx="11057838" cy="32369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88605"/>
                <a:gridCol w="8069233"/>
              </a:tblGrid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Причина</a:t>
                      </a:r>
                    </a:p>
                  </a:txBody>
                  <a:tcPr marL="118872" marR="91440" marT="45720" marB="45720" anchor="ctr">
                    <a:solidFill>
                      <a:srgbClr val="1F3A5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В чём состоит</a:t>
                      </a:r>
                    </a:p>
                  </a:txBody>
                  <a:tcPr marL="118872" marR="91440" marT="45720" marB="45720" anchor="ctr">
                    <a:solidFill>
                      <a:srgbClr val="1F3A53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400" b="1">
                          <a:solidFill>
                            <a:srgbClr val="2B2B2B"/>
                          </a:solidFill>
                          <a:latin typeface="Calibri"/>
                        </a:rPr>
                        <a:t>Ошибка планирования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человек оценивает по лучшему сценарию, даже зная, что раньше так не выходило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400" b="1">
                          <a:solidFill>
                            <a:srgbClr val="2B2B2B"/>
                          </a:solidFill>
                          <a:latin typeface="Calibri"/>
                        </a:rPr>
                        <a:t>Забытая работа</a:t>
                      </a:r>
                    </a:p>
                  </a:txBody>
                  <a:tcPr marL="118872" marR="91440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оценивают написание кода; забывают ревью, тесты, правки после ревью,</a:t>
                      </a:r>
                    </a:p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документацию, выкатку, разбор инцидента</a:t>
                      </a:r>
                    </a:p>
                  </a:txBody>
                  <a:tcPr marL="118872" marR="91440" marT="45720" marB="45720" anchor="ctr">
                    <a:solidFill>
                      <a:srgbClr val="F1F4F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400" b="1">
                          <a:solidFill>
                            <a:srgbClr val="2B2B2B"/>
                          </a:solidFill>
                          <a:latin typeface="Calibri"/>
                        </a:rPr>
                        <a:t>Оптимизм в неизвестном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чем меньше знаем о задаче, тем меньше видим препятствий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400" b="1">
                          <a:solidFill>
                            <a:srgbClr val="2B2B2B"/>
                          </a:solidFill>
                          <a:latin typeface="Calibri"/>
                        </a:rPr>
                        <a:t>Давление</a:t>
                      </a:r>
                    </a:p>
                  </a:txBody>
                  <a:tcPr marL="118872" marR="91440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оценку спрашивает тот, кто уже назвал срок клиенту.</a:t>
                      </a:r>
                    </a:p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«А нельзя быстрее?» — тоже часть процесса оценки</a:t>
                      </a:r>
                    </a:p>
                  </a:txBody>
                  <a:tcPr marL="118872" marR="91440" marT="45720" marB="45720" anchor="ctr">
                    <a:solidFill>
                      <a:srgbClr val="F1F4F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400" b="1">
                          <a:solidFill>
                            <a:srgbClr val="2B2B2B"/>
                          </a:solidFill>
                          <a:latin typeface="Calibri"/>
                        </a:rPr>
                        <a:t>Отсутствие обратной связи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почти нигде не сравнивают оценку с фактом,</a:t>
                      </a:r>
                    </a:p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поэтому ошибка не корректируется годами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5541264"/>
            <a:ext cx="1105783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400" b="0" i="1">
                <a:solidFill>
                  <a:srgbClr val="6B7280"/>
                </a:solidFill>
                <a:latin typeface="Calibri"/>
              </a:rPr>
              <a:t>Ошибка планирования описана Канеманом и Тверски: люди недооценивают срок собственных задач, даже имея опыт похожих задач, которые заняли больше.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82512"/>
            <a:ext cx="8778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Программная инженерия  ·  Лекция 4. Оценка и работа с неопределённостью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8251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3000" b="1" i="0">
                <a:solidFill>
                  <a:srgbClr val="1F3A53"/>
                </a:solidFill>
                <a:latin typeface="Calibri"/>
              </a:rPr>
              <a:t>Точность растёт по мере того, как работа делается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16152"/>
            <a:ext cx="1325880" cy="40640"/>
          </a:xfrm>
          <a:prstGeom prst="rect">
            <a:avLst/>
          </a:prstGeom>
          <a:solidFill>
            <a:srgbClr val="C05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80160"/>
            <a:ext cx="110578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250" b="0" i="1">
                <a:solidFill>
                  <a:srgbClr val="6B7280"/>
                </a:solidFill>
                <a:latin typeface="Calibri"/>
              </a:rPr>
              <a:t>Картинку конуса вставить; границы — по выбранной вами версии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536192"/>
            <a:ext cx="11057839" cy="2286000"/>
          </a:xfrm>
          <a:prstGeom prst="rect">
            <a:avLst/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450592"/>
            <a:ext cx="10509199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700"/>
              </a:spcAft>
            </a:pPr>
            <a:r>
              <a:rPr sz="1400" b="0" i="1">
                <a:solidFill>
                  <a:srgbClr val="6B7280"/>
                </a:solidFill>
                <a:latin typeface="Calibri"/>
              </a:rPr>
              <a:t>[ место для схемы: конус неопределённости — по горизонтали стадии,
по вертикали отклонение оценки от факта, разброс сужается к концу ]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4078224"/>
            <a:ext cx="11057839" cy="658368"/>
          </a:xfrm>
          <a:prstGeom prst="rect">
            <a:avLst/>
          </a:prstGeom>
          <a:solidFill>
            <a:srgbClr val="E4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4178808"/>
            <a:ext cx="1065550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1F3A53"/>
                </a:solidFill>
                <a:latin typeface="Calibri"/>
              </a:rPr>
              <a:t>Самая точная оценка получается в момент, когда работа закончена. Она никому не нужна.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956048"/>
            <a:ext cx="11057839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550" b="0" i="0">
                <a:solidFill>
                  <a:srgbClr val="2B2B2B"/>
                </a:solidFill>
                <a:latin typeface="Calibri"/>
              </a:rPr>
              <a:t>Всякая полезная оценка даётся в условиях, когда точность заведомо ограничена. Если от вас требуют точную оценку большой задачи на старте, правильный ответ не «три недели», а «сейчас честный диапазон от двух до восьми недель; если нужен более узкий — дайте два дня на изучение».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382512"/>
            <a:ext cx="8778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Программная инженерия  ·  Лекция 4. Оценка и работа с неопределённостью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10367" y="638251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3000" b="1" i="0">
                <a:solidFill>
                  <a:srgbClr val="1F3A53"/>
                </a:solidFill>
                <a:latin typeface="Calibri"/>
              </a:rPr>
              <a:t>Применим к нему четыре вопроса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16152"/>
            <a:ext cx="1325880" cy="40640"/>
          </a:xfrm>
          <a:prstGeom prst="rect">
            <a:avLst/>
          </a:prstGeom>
          <a:solidFill>
            <a:srgbClr val="C05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536192"/>
            <a:ext cx="110578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Конус неопределённости — красивая модель. Проверим её так же, как проверяли статистику на первой лекции: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2048256"/>
          <a:ext cx="11057838" cy="28163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97033"/>
                <a:gridCol w="8360805"/>
              </a:tblGrid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Вопрос</a:t>
                      </a:r>
                    </a:p>
                  </a:txBody>
                  <a:tcPr marL="118872" marR="91440" marT="45720" marB="45720" anchor="ctr">
                    <a:solidFill>
                      <a:srgbClr val="1F3A5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Что выясняется</a:t>
                      </a:r>
                    </a:p>
                  </a:txBody>
                  <a:tcPr marL="118872" marR="91440" marT="45720" marB="45720" anchor="ctr">
                    <a:solidFill>
                      <a:srgbClr val="1F3A53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Что именно измерено?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отклонение оценки от факта — но на каких проектах и как отбирали?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На какой выборке?</a:t>
                      </a:r>
                    </a:p>
                  </a:txBody>
                  <a:tcPr marL="118872" marR="91440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исходные данные относятся к проектам определённого типа и эпохи</a:t>
                      </a:r>
                    </a:p>
                  </a:txBody>
                  <a:tcPr marL="118872" marR="91440" marT="45720" marB="45720" anchor="ctr">
                    <a:solidFill>
                      <a:srgbClr val="F1F4F7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Воспроизводимо ли?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попытки воспроизвести сужение конуса на реальных данных дают</a:t>
                      </a:r>
                    </a:p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неоднозначный результат: у многих проектов разброс держится почти до конца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Кому выгодно?</a:t>
                      </a:r>
                    </a:p>
                  </a:txBody>
                  <a:tcPr marL="118872" marR="91440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400" b="0">
                          <a:solidFill>
                            <a:srgbClr val="2B2B2B"/>
                          </a:solidFill>
                          <a:latin typeface="Calibri"/>
                        </a:rPr>
                        <a:t>модель удобна и тем, кто требует оценок, и тем, кто их даёт</a:t>
                      </a:r>
                    </a:p>
                  </a:txBody>
                  <a:tcPr marL="118872" marR="91440" marT="45720" marB="45720" anchor="ctr">
                    <a:solidFill>
                      <a:srgbClr val="F1F4F7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66928" y="4791456"/>
            <a:ext cx="11057839" cy="868680"/>
          </a:xfrm>
          <a:prstGeom prst="rect">
            <a:avLst/>
          </a:prstGeom>
          <a:solidFill>
            <a:srgbClr val="E4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4892040"/>
            <a:ext cx="10655503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00" b="1" i="0">
                <a:solidFill>
                  <a:srgbClr val="1F3A53"/>
                </a:solidFill>
                <a:latin typeface="Calibri"/>
              </a:rPr>
              <a:t>Пользоваться можно. Как иллюстрацией идеи «точность растёт с информацией» — да.
Как основанием для конкретного множителя — нет.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382512"/>
            <a:ext cx="8778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Программная инженерия  ·  Лекция 4. Оценка и работа с неопределённостью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10367" y="638251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3000" b="1" i="0">
                <a:solidFill>
                  <a:srgbClr val="1F3A53"/>
                </a:solidFill>
                <a:latin typeface="Calibri"/>
              </a:rPr>
              <a:t>Декомпозиция: главный инструмент точности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16152"/>
            <a:ext cx="1325880" cy="40640"/>
          </a:xfrm>
          <a:prstGeom prst="rect">
            <a:avLst/>
          </a:prstGeom>
          <a:solidFill>
            <a:srgbClr val="C05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536192"/>
            <a:ext cx="110578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00" b="1" i="0">
                <a:solidFill>
                  <a:srgbClr val="1F3A53"/>
                </a:solidFill>
                <a:latin typeface="Calibri"/>
              </a:rPr>
              <a:t>Вернёмся к задаче со слайда 2. Что в ней на самом деле: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011680"/>
            <a:ext cx="5623560" cy="566928"/>
          </a:xfrm>
          <a:prstGeom prst="rect">
            <a:avLst/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2057400"/>
            <a:ext cx="5212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350" b="0" i="0">
                <a:solidFill>
                  <a:srgbClr val="2B2B2B"/>
                </a:solidFill>
                <a:latin typeface="Calibri"/>
              </a:rPr>
              <a:t>выяснить, какие колонки нужны
и в каком формате дат и чисел</a:t>
            </a:r>
          </a:p>
        </p:txBody>
      </p:sp>
      <p:sp>
        <p:nvSpPr>
          <p:cNvPr id="7" name="Rectangle 6"/>
          <p:cNvSpPr/>
          <p:nvPr/>
        </p:nvSpPr>
        <p:spPr>
          <a:xfrm>
            <a:off x="6483096" y="2011680"/>
            <a:ext cx="5623560" cy="566928"/>
          </a:xfrm>
          <a:prstGeom prst="rect">
            <a:avLst/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11696" y="2057400"/>
            <a:ext cx="5212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350" b="0" i="0">
                <a:solidFill>
                  <a:srgbClr val="2B2B2B"/>
                </a:solidFill>
                <a:latin typeface="Calibri"/>
              </a:rPr>
              <a:t>права: кому можно выгружать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670048"/>
            <a:ext cx="5623560" cy="566928"/>
          </a:xfrm>
          <a:prstGeom prst="rect">
            <a:avLst/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2715768"/>
            <a:ext cx="5212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350" b="0" i="0">
                <a:solidFill>
                  <a:srgbClr val="2B2B2B"/>
                </a:solidFill>
                <a:latin typeface="Calibri"/>
              </a:rPr>
              <a:t>сформировать файл; выбрать библиотеку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83096" y="2670048"/>
            <a:ext cx="5623560" cy="566928"/>
          </a:xfrm>
          <a:prstGeom prst="rect">
            <a:avLst/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11696" y="2715768"/>
            <a:ext cx="5212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350" b="0" i="0">
                <a:solidFill>
                  <a:srgbClr val="2B2B2B"/>
                </a:solidFill>
                <a:latin typeface="Calibri"/>
              </a:rPr>
              <a:t>тесты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3328416"/>
            <a:ext cx="5623560" cy="566928"/>
          </a:xfrm>
          <a:prstGeom prst="rect">
            <a:avLst/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" y="3374136"/>
            <a:ext cx="5212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350" b="0" i="0">
                <a:solidFill>
                  <a:srgbClr val="2B2B2B"/>
                </a:solidFill>
                <a:latin typeface="Calibri"/>
              </a:rPr>
              <a:t>что делать при 200 000 строк —
в память не поместятся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83096" y="3328416"/>
            <a:ext cx="5623560" cy="566928"/>
          </a:xfrm>
          <a:prstGeom prst="rect">
            <a:avLst/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11696" y="3374136"/>
            <a:ext cx="5212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350" b="0" i="0">
                <a:solidFill>
                  <a:srgbClr val="2B2B2B"/>
                </a:solidFill>
                <a:latin typeface="Calibri"/>
              </a:rPr>
              <a:t>ревью и правки после ревью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3986784"/>
            <a:ext cx="5623560" cy="566928"/>
          </a:xfrm>
          <a:prstGeom prst="rect">
            <a:avLst/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" y="4032504"/>
            <a:ext cx="5212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350" b="0" i="0">
                <a:solidFill>
                  <a:srgbClr val="2B2B2B"/>
                </a:solidFill>
                <a:latin typeface="Calibri"/>
              </a:rPr>
              <a:t>учесть текущие фильтры экрана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83096" y="3986784"/>
            <a:ext cx="5623560" cy="566928"/>
          </a:xfrm>
          <a:prstGeom prst="rect">
            <a:avLst/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11696" y="4032504"/>
            <a:ext cx="5212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350" b="0" i="0">
                <a:solidFill>
                  <a:srgbClr val="2B2B2B"/>
                </a:solidFill>
                <a:latin typeface="Calibri"/>
              </a:rPr>
              <a:t>выкатка и проверка на реальных данных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4791456"/>
            <a:ext cx="11057839" cy="640080"/>
          </a:xfrm>
          <a:prstGeom prst="rect">
            <a:avLst/>
          </a:prstGeom>
          <a:solidFill>
            <a:srgbClr val="E4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" y="4892040"/>
            <a:ext cx="10655503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1F3A53"/>
                </a:solidFill>
                <a:latin typeface="Calibri"/>
              </a:rPr>
              <a:t>Правило: если элемент нельзя оценить с разбросом меньше чем в 3 раза — дробите дальше.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5596128"/>
            <a:ext cx="1105783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450" b="0" i="1">
                <a:solidFill>
                  <a:srgbClr val="6B7280"/>
                </a:solidFill>
                <a:latin typeface="Calibri"/>
              </a:rPr>
              <a:t>Декомпозиция уменьшает ошибку двумя способами: делает видимой забытую работу и усредняет разнонаправленные ошибки по мелким элементам.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6382512"/>
            <a:ext cx="8778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Программная инженерия  ·  Лекция 4. Оценка и работа с неопределённостью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10367" y="638251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3000" b="1" i="0">
                <a:solidFill>
                  <a:srgbClr val="1F3A53"/>
                </a:solidFill>
                <a:latin typeface="Calibri"/>
              </a:rPr>
              <a:t>Почему считают в попугаях, а не в часах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16152"/>
            <a:ext cx="1325880" cy="40640"/>
          </a:xfrm>
          <a:prstGeom prst="rect">
            <a:avLst/>
          </a:prstGeom>
          <a:solidFill>
            <a:srgbClr val="C05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536192"/>
            <a:ext cx="11057839" cy="621792"/>
          </a:xfrm>
          <a:prstGeom prst="rect">
            <a:avLst/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09344"/>
            <a:ext cx="10545775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50" b="0" i="0">
                <a:solidFill>
                  <a:srgbClr val="2B2B2B"/>
                </a:solidFill>
                <a:latin typeface="Calibri"/>
              </a:rPr>
              <a:t>Человек плохо оценивает абсолютные величины и заметно лучше — сравнительные. «Эта задача примерно вдвое больше вон той» надёжнее, чем «эта задача займёт 6 часов».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395728"/>
            <a:ext cx="11057839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•   задачам присваивается относительный размер, а не часы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•   выбирается эталон — небольшая понятная задача с опорным значением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•   шкала грубая (1, 2, 3, 5, 8, 13), чтобы не спорить о разнице между 6 и 7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•   срок получается не из размера, а из накопленной статистики: сколько единиц команда фактически закрывает за цикл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4370832"/>
            <a:ext cx="11057839" cy="914400"/>
          </a:xfrm>
          <a:prstGeom prst="rect">
            <a:avLst/>
          </a:prstGeom>
          <a:solidFill>
            <a:srgbClr val="E4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4370832"/>
            <a:ext cx="43180" cy="914400"/>
          </a:xfrm>
          <a:prstGeom prst="rect">
            <a:avLst/>
          </a:prstGeom>
          <a:solidFill>
            <a:srgbClr val="C05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4480560"/>
            <a:ext cx="1050919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600" b="1" i="0">
                <a:solidFill>
                  <a:srgbClr val="1F3A53"/>
                </a:solidFill>
                <a:latin typeface="Calibri"/>
              </a:rPr>
              <a:t>Чего это НЕ даёт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Размер не переводится в часы. Как только для единицы назначен курс в часах, вся конструкция превращается в часы с лишним шагом.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431536"/>
            <a:ext cx="1105783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00" b="0" i="1">
                <a:solidFill>
                  <a:srgbClr val="6B7280"/>
                </a:solidFill>
                <a:latin typeface="Calibri"/>
              </a:rPr>
              <a:t>Относительная оценка отделяет размер задачи (свойство задачи) от скорости команды (свойство команды).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382512"/>
            <a:ext cx="8778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Программная инженерия  ·  Лекция 4. Оценка и работа с неопределённостью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10367" y="638251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3000" b="1" i="0">
                <a:solidFill>
                  <a:srgbClr val="1F3A53"/>
                </a:solidFill>
                <a:latin typeface="Calibri"/>
              </a:rPr>
              <a:t>Спросить не «сколько займёт», а «сколько заняло в прошлый раз»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16152"/>
            <a:ext cx="1325880" cy="40640"/>
          </a:xfrm>
          <a:prstGeom prst="rect">
            <a:avLst/>
          </a:prstGeom>
          <a:solidFill>
            <a:srgbClr val="C05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536192"/>
            <a:ext cx="11057839" cy="960120"/>
          </a:xfrm>
          <a:prstGeom prst="rect">
            <a:avLst/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36192"/>
            <a:ext cx="43180" cy="960120"/>
          </a:xfrm>
          <a:prstGeom prst="rect">
            <a:avLst/>
          </a:prstGeom>
          <a:solidFill>
            <a:srgbClr val="C05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64592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1F3A53"/>
                </a:solidFill>
                <a:latin typeface="Calibri"/>
              </a:rPr>
              <a:t>По аналогии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1975104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450" b="0" i="0">
                <a:solidFill>
                  <a:srgbClr val="2B2B2B"/>
                </a:solidFill>
                <a:latin typeface="Calibri"/>
              </a:rPr>
              <a:t>Найти похожую задачу, которая уже делалась, взять её факт, скорректировать на отличия.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596896"/>
            <a:ext cx="11057839" cy="960120"/>
          </a:xfrm>
          <a:prstGeom prst="rect">
            <a:avLst/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2596896"/>
            <a:ext cx="43180" cy="960120"/>
          </a:xfrm>
          <a:prstGeom prst="rect">
            <a:avLst/>
          </a:prstGeom>
          <a:solidFill>
            <a:srgbClr val="C05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2706624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1F3A53"/>
                </a:solidFill>
                <a:latin typeface="Calibri"/>
              </a:rPr>
              <a:t>Референсный класс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303580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450" b="0" i="0">
                <a:solidFill>
                  <a:srgbClr val="2B2B2B"/>
                </a:solidFill>
                <a:latin typeface="Calibri"/>
              </a:rPr>
              <a:t>Взять не одну похожую задачу, а класс похожих, и посмотреть распределение их фактических сроков. Оценивать не «сколько займёт эта», а «где эта задача в распределении подобных».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3840480"/>
            <a:ext cx="11057839" cy="1005840"/>
          </a:xfrm>
          <a:prstGeom prst="rect">
            <a:avLst/>
          </a:prstGeom>
          <a:solidFill>
            <a:srgbClr val="1F3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" y="3950208"/>
            <a:ext cx="10417759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Взгляд изнутри против взгляда снаружи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500" b="0" i="0">
                <a:solidFill>
                  <a:srgbClr val="9FB4CB"/>
                </a:solidFill>
                <a:latin typeface="Calibri"/>
              </a:rPr>
              <a:t>Интуитивная оценка строится изнутри задачи, по её плану. Референсный класс — снаружи, по результатам таких же задач, и автоматически включает всё, что обычно идёт не так.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5102352"/>
            <a:ext cx="11057839" cy="603504"/>
          </a:xfrm>
          <a:prstGeom prst="rect">
            <a:avLst/>
          </a:prstGeom>
          <a:solidFill>
            <a:srgbClr val="E4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" y="5202936"/>
            <a:ext cx="10655503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00" b="1" i="0">
                <a:solidFill>
                  <a:srgbClr val="1F3A53"/>
                </a:solidFill>
                <a:latin typeface="Calibri"/>
              </a:rPr>
              <a:t>Условие применимости одно: организация должна хранить факты. Без этого оба метода недоступны.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382512"/>
            <a:ext cx="8778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Программная инженерия  ·  Лекция 4. Оценка и работа с неопределённостью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10367" y="638251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3000" b="1" i="0">
                <a:solidFill>
                  <a:srgbClr val="1F3A53"/>
                </a:solidFill>
                <a:latin typeface="Calibri"/>
              </a:rPr>
              <a:t>Одно число — почти всегда неправда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16152"/>
            <a:ext cx="1325880" cy="40640"/>
          </a:xfrm>
          <a:prstGeom prst="rect">
            <a:avLst/>
          </a:prstGeom>
          <a:solidFill>
            <a:srgbClr val="C05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536192"/>
          <a:ext cx="11057838" cy="228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55574"/>
                <a:gridCol w="7602264"/>
              </a:tblGrid>
              <a:tr h="420624"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Вместо</a:t>
                      </a:r>
                    </a:p>
                  </a:txBody>
                  <a:tcPr marL="118872" marR="91440" marT="45720" marB="45720" anchor="ctr">
                    <a:solidFill>
                      <a:srgbClr val="1F3A5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Лучше</a:t>
                      </a:r>
                    </a:p>
                  </a:txBody>
                  <a:tcPr marL="118872" marR="91440" marT="45720" marB="45720" anchor="ctr">
                    <a:solidFill>
                      <a:srgbClr val="1F3A53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50" b="0">
                          <a:solidFill>
                            <a:srgbClr val="2B2B2B"/>
                          </a:solidFill>
                          <a:latin typeface="Calibri"/>
                        </a:rPr>
                        <a:t>«Три недели»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50" b="0">
                          <a:solidFill>
                            <a:srgbClr val="2B2B2B"/>
                          </a:solidFill>
                          <a:latin typeface="Calibri"/>
                        </a:rPr>
                        <a:t>«От двух до пяти недель, вероятнее всего три»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50" b="0">
                          <a:solidFill>
                            <a:srgbClr val="2B2B2B"/>
                          </a:solidFill>
                          <a:latin typeface="Calibri"/>
                        </a:rPr>
                        <a:t>«Успеем к 15-му»</a:t>
                      </a:r>
                    </a:p>
                  </a:txBody>
                  <a:tcPr marL="118872" marR="91440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50" b="0">
                          <a:solidFill>
                            <a:srgbClr val="2B2B2B"/>
                          </a:solidFill>
                          <a:latin typeface="Calibri"/>
                        </a:rPr>
                        <a:t>«К 15-му с вероятностью около половины; к 25-му — почти наверняка»</a:t>
                      </a:r>
                    </a:p>
                  </a:txBody>
                  <a:tcPr marL="118872" marR="91440" marT="45720" marB="45720" anchor="ctr">
                    <a:solidFill>
                      <a:srgbClr val="F1F4F7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50" b="0">
                          <a:solidFill>
                            <a:srgbClr val="2B2B2B"/>
                          </a:solidFill>
                          <a:latin typeface="Calibri"/>
                        </a:rPr>
                        <a:t>«Не знаю»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50" b="0">
                          <a:solidFill>
                            <a:srgbClr val="2B2B2B"/>
                          </a:solidFill>
                          <a:latin typeface="Calibri"/>
                        </a:rPr>
                        <a:t>«Сейчас диапазон от недели до двух месяцев.</a:t>
                      </a:r>
                    </a:p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50" b="0">
                          <a:solidFill>
                            <a:srgbClr val="2B2B2B"/>
                          </a:solidFill>
                          <a:latin typeface="Calibri"/>
                        </a:rPr>
                        <a:t>Дайте два дня разобраться, сузим до реального»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3822191"/>
            <a:ext cx="11057839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1" i="0">
                <a:solidFill>
                  <a:srgbClr val="1F3A53"/>
                </a:solidFill>
                <a:latin typeface="Calibri"/>
              </a:rPr>
              <a:t>Что должно сопровождать диапазон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•   от чего зависит — какие два-три обстоятельства двигают оценку к верхней границе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•   что нужно, чтобы сузить — какое исследование и сколько времени займёт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•   признак того, что оценка не сбывается — что мы увидим и когда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5358384"/>
            <a:ext cx="11057839" cy="777240"/>
          </a:xfrm>
          <a:prstGeom prst="rect">
            <a:avLst/>
          </a:prstGeom>
          <a:solidFill>
            <a:srgbClr val="E4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5458968"/>
            <a:ext cx="10655503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00" b="1" i="0">
                <a:solidFill>
                  <a:srgbClr val="1F3A53"/>
                </a:solidFill>
                <a:latin typeface="Calibri"/>
              </a:rPr>
              <a:t>Диапазон не признак неуверенности. Точка без диапазона — признак того,
что о неопределённости не подумали.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382512"/>
            <a:ext cx="8778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Программная инженерия  ·  Лекция 4. Оценка и работа с неопределённостью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10367" y="638251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3000" b="1" i="0">
                <a:solidFill>
                  <a:srgbClr val="1F3A53"/>
                </a:solidFill>
                <a:latin typeface="Calibri"/>
              </a:rPr>
              <a:t>Запас нужен. Вопрос — где он лежит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16152"/>
            <a:ext cx="1325880" cy="40640"/>
          </a:xfrm>
          <a:prstGeom prst="rect">
            <a:avLst/>
          </a:prstGeom>
          <a:solidFill>
            <a:srgbClr val="C05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536192"/>
            <a:ext cx="11057839" cy="548640"/>
          </a:xfrm>
          <a:prstGeom prst="rect">
            <a:avLst/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91056"/>
            <a:ext cx="10545775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Как делают обычно: каждый исполнитель закладывает запас в свою задачу. Оценил в 3 дня — сказал 5.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2286000"/>
            <a:ext cx="3685032" cy="1097280"/>
          </a:xfrm>
          <a:prstGeom prst="rect">
            <a:avLst/>
          </a:prstGeom>
          <a:solidFill>
            <a:srgbClr val="FFFFFF"/>
          </a:solidFill>
          <a:ln w="15875">
            <a:solidFill>
              <a:srgbClr val="E4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2286000"/>
            <a:ext cx="3685032" cy="38100"/>
          </a:xfrm>
          <a:prstGeom prst="rect">
            <a:avLst/>
          </a:prstGeom>
          <a:solidFill>
            <a:srgbClr val="C05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2432304"/>
            <a:ext cx="3291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50" b="1" i="0">
                <a:solidFill>
                  <a:srgbClr val="1F3A53"/>
                </a:solidFill>
                <a:latin typeface="Calibri"/>
              </a:rPr>
              <a:t>Закон Паркинсона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779776"/>
            <a:ext cx="3337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работа занимает всё отведённое время;
задача, на которую дали 5 дней, займёт 5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5112" y="2286000"/>
            <a:ext cx="3685032" cy="1097280"/>
          </a:xfrm>
          <a:prstGeom prst="rect">
            <a:avLst/>
          </a:prstGeom>
          <a:solidFill>
            <a:srgbClr val="FFFFFF"/>
          </a:solidFill>
          <a:ln w="15875">
            <a:solidFill>
              <a:srgbClr val="E4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25112" y="2286000"/>
            <a:ext cx="3685032" cy="38100"/>
          </a:xfrm>
          <a:prstGeom prst="rect">
            <a:avLst/>
          </a:prstGeom>
          <a:solidFill>
            <a:srgbClr val="C05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2432304"/>
            <a:ext cx="3291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50" b="1" i="0">
                <a:solidFill>
                  <a:srgbClr val="1F3A53"/>
                </a:solidFill>
                <a:latin typeface="Calibri"/>
              </a:rPr>
              <a:t>Студенческий синдром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779776"/>
            <a:ext cx="3337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запас есть, значит можно начать позже;
запас тратится до начала работы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83296" y="2286000"/>
            <a:ext cx="3685032" cy="1097280"/>
          </a:xfrm>
          <a:prstGeom prst="rect">
            <a:avLst/>
          </a:prstGeom>
          <a:solidFill>
            <a:srgbClr val="FFFFFF"/>
          </a:solidFill>
          <a:ln w="15875">
            <a:solidFill>
              <a:srgbClr val="E4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83296" y="2286000"/>
            <a:ext cx="3685032" cy="38100"/>
          </a:xfrm>
          <a:prstGeom prst="rect">
            <a:avLst/>
          </a:prstGeom>
          <a:solidFill>
            <a:srgbClr val="C05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84464" y="2432304"/>
            <a:ext cx="3291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50" b="1" i="0">
                <a:solidFill>
                  <a:srgbClr val="1F3A53"/>
                </a:solidFill>
                <a:latin typeface="Calibri"/>
              </a:rPr>
              <a:t>Невидимость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4464" y="2779776"/>
            <a:ext cx="3337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запас, спрятанный внутри задач, не виден:
руководитель не знает, сколько его и где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675887"/>
            <a:ext cx="11057839" cy="1234440"/>
          </a:xfrm>
          <a:prstGeom prst="rect">
            <a:avLst/>
          </a:prstGeom>
          <a:solidFill>
            <a:srgbClr val="1F3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" y="3803904"/>
            <a:ext cx="10417759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Как лучше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500" b="0" i="0">
                <a:solidFill>
                  <a:srgbClr val="9FB4CB"/>
                </a:solidFill>
                <a:latin typeface="Calibri"/>
              </a:rPr>
              <a:t>Оценивать задачи без запаса, а буфер держать общим, в конце, и следить за его расходом. Тогда запас виден, тратится там, где реально понадобился, и по скорости его расхода видно состояние проекта заранее.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5138928"/>
            <a:ext cx="11057839" cy="566928"/>
          </a:xfrm>
          <a:prstGeom prst="rect">
            <a:avLst/>
          </a:prstGeom>
          <a:solidFill>
            <a:srgbClr val="E4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6" y="5239512"/>
            <a:ext cx="10655503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1" i="0">
                <a:solidFill>
                  <a:srgbClr val="1F3A53"/>
                </a:solidFill>
                <a:latin typeface="Calibri"/>
              </a:rPr>
              <a:t>Скорость расходования общего буфера — лучший ранний индикатор того, что проект не успевает.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382512"/>
            <a:ext cx="8778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Программная инженерия  ·  Лекция 4. Оценка и работа с неопределённостью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10367" y="638251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3000" b="1" i="0">
                <a:solidFill>
                  <a:srgbClr val="1F3A53"/>
                </a:solidFill>
                <a:latin typeface="Calibri"/>
              </a:rPr>
              <a:t>Дату определяют зависимости, а не трудоёмкость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16152"/>
            <a:ext cx="1325880" cy="40640"/>
          </a:xfrm>
          <a:prstGeom prst="rect">
            <a:avLst/>
          </a:prstGeom>
          <a:solidFill>
            <a:srgbClr val="C05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536192"/>
          <a:ext cx="11057838" cy="20848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35343"/>
                <a:gridCol w="8222495"/>
              </a:tblGrid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Тип связи</a:t>
                      </a:r>
                    </a:p>
                  </a:txBody>
                  <a:tcPr marL="118872" marR="91440" marT="45720" marB="45720" anchor="ctr">
                    <a:solidFill>
                      <a:srgbClr val="1F3A5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Что означает</a:t>
                      </a:r>
                    </a:p>
                  </a:txBody>
                  <a:tcPr marL="118872" marR="91440" marT="45720" marB="45720" anchor="ctr">
                    <a:solidFill>
                      <a:srgbClr val="1F3A53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450" b="1">
                          <a:solidFill>
                            <a:srgbClr val="2B2B2B"/>
                          </a:solidFill>
                          <a:latin typeface="Calibri"/>
                        </a:rPr>
                        <a:t>Финиш — старт (FS)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450" b="0">
                          <a:solidFill>
                            <a:srgbClr val="2B2B2B"/>
                          </a:solidFill>
                          <a:latin typeface="Calibri"/>
                        </a:rPr>
                        <a:t>следующая начинается после окончания предыдущей. Самый частый случай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450" b="1">
                          <a:solidFill>
                            <a:srgbClr val="2B2B2B"/>
                          </a:solidFill>
                          <a:latin typeface="Calibri"/>
                        </a:rPr>
                        <a:t>Финиш — финиш (FF)</a:t>
                      </a:r>
                    </a:p>
                  </a:txBody>
                  <a:tcPr marL="118872" marR="91440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450" b="0">
                          <a:solidFill>
                            <a:srgbClr val="2B2B2B"/>
                          </a:solidFill>
                          <a:latin typeface="Calibri"/>
                        </a:rPr>
                        <a:t>заканчиваются вместе</a:t>
                      </a:r>
                    </a:p>
                  </a:txBody>
                  <a:tcPr marL="118872" marR="91440" marT="45720" marB="45720" anchor="ctr">
                    <a:solidFill>
                      <a:srgbClr val="F1F4F7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450" b="1">
                          <a:solidFill>
                            <a:srgbClr val="2B2B2B"/>
                          </a:solidFill>
                          <a:latin typeface="Calibri"/>
                        </a:rPr>
                        <a:t>Старт — старт (SS)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450" b="0">
                          <a:solidFill>
                            <a:srgbClr val="2B2B2B"/>
                          </a:solidFill>
                          <a:latin typeface="Calibri"/>
                        </a:rPr>
                        <a:t>начинаются вместе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450" b="1">
                          <a:solidFill>
                            <a:srgbClr val="2B2B2B"/>
                          </a:solidFill>
                          <a:latin typeface="Calibri"/>
                        </a:rPr>
                        <a:t>Старт — финиш (SF)</a:t>
                      </a:r>
                    </a:p>
                  </a:txBody>
                  <a:tcPr marL="118872" marR="91440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450" b="0">
                          <a:solidFill>
                            <a:srgbClr val="2B2B2B"/>
                          </a:solidFill>
                          <a:latin typeface="Calibri"/>
                        </a:rPr>
                        <a:t>редкий; встречается при передаче дежурства и замене систем</a:t>
                      </a:r>
                    </a:p>
                  </a:txBody>
                  <a:tcPr marL="118872" marR="91440" marT="45720" marB="45720" anchor="ctr">
                    <a:solidFill>
                      <a:srgbClr val="F1F4F7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66928" y="3803904"/>
            <a:ext cx="11057839" cy="731520"/>
          </a:xfrm>
          <a:prstGeom prst="rect">
            <a:avLst/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3803904"/>
            <a:ext cx="43180" cy="731520"/>
          </a:xfrm>
          <a:prstGeom prst="rect">
            <a:avLst/>
          </a:prstGeom>
          <a:solidFill>
            <a:srgbClr val="C05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3913632"/>
            <a:ext cx="1050919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50" b="0" i="0">
                <a:solidFill>
                  <a:srgbClr val="2B2B2B"/>
                </a:solidFill>
                <a:latin typeface="Calibri"/>
              </a:rPr>
              <a:t>Критический путь — самая длинная цепочка связанных работ. Её длина и есть минимальный срок проекта. Сокращение работы вне критического пути срок не сокращает.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4700016"/>
            <a:ext cx="11057839" cy="868680"/>
          </a:xfrm>
          <a:prstGeom prst="rect">
            <a:avLst/>
          </a:prstGeom>
          <a:solidFill>
            <a:srgbClr val="E4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4800600"/>
            <a:ext cx="10655503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00" b="1" i="0">
                <a:solidFill>
                  <a:srgbClr val="1F3A53"/>
                </a:solidFill>
                <a:latin typeface="Calibri"/>
              </a:rPr>
              <a:t>Дату чаще определяют не объёмы, а ожидания: ревью, согласование, доступ к среде,
чужая команда. Их надо оценивать так же, как работу.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382512"/>
            <a:ext cx="8778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Программная инженерия  ·  Лекция 4. Оценка и работа с неопределённостью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10367" y="638251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3000" b="1" i="0">
                <a:solidFill>
                  <a:srgbClr val="1F3A53"/>
                </a:solidFill>
                <a:latin typeface="Calibri"/>
              </a:rPr>
              <a:t>Что можно и чего нельзя делать со скоростью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16152"/>
            <a:ext cx="1325880" cy="40640"/>
          </a:xfrm>
          <a:prstGeom prst="rect">
            <a:avLst/>
          </a:prstGeom>
          <a:solidFill>
            <a:srgbClr val="C05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536192"/>
            <a:ext cx="11057839" cy="530352"/>
          </a:xfrm>
          <a:prstGeom prst="rect">
            <a:avLst/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81912"/>
            <a:ext cx="10545775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50" b="0" i="0">
                <a:solidFill>
                  <a:srgbClr val="2B2B2B"/>
                </a:solidFill>
                <a:latin typeface="Calibri"/>
              </a:rPr>
              <a:t>Скорость — сколько единиц размера команда фактически закрывает за цикл. Считается по факту, накапливается за несколько циклов.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2231136"/>
          <a:ext cx="11057838" cy="19293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528919"/>
                <a:gridCol w="5528919"/>
              </a:tblGrid>
              <a:tr h="420624"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Можно</a:t>
                      </a:r>
                    </a:p>
                  </a:txBody>
                  <a:tcPr marL="118872" marR="91440" marT="45720" marB="45720" anchor="ctr">
                    <a:solidFill>
                      <a:srgbClr val="1F3A5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Нельзя</a:t>
                      </a:r>
                    </a:p>
                  </a:txBody>
                  <a:tcPr marL="118872" marR="91440" marT="45720" marB="45720" anchor="ctr">
                    <a:solidFill>
                      <a:srgbClr val="1F3A53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00" b="0">
                          <a:solidFill>
                            <a:srgbClr val="2B2B2B"/>
                          </a:solidFill>
                          <a:latin typeface="Calibri"/>
                        </a:rPr>
                        <a:t>прогнозировать, сколько войдёт в следующий цикл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00" b="0">
                          <a:solidFill>
                            <a:srgbClr val="2B2B2B"/>
                          </a:solidFill>
                          <a:latin typeface="Calibri"/>
                        </a:rPr>
                        <a:t>сравнивать скорость двух команд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00" b="0">
                          <a:solidFill>
                            <a:srgbClr val="2B2B2B"/>
                          </a:solidFill>
                          <a:latin typeface="Calibri"/>
                        </a:rPr>
                        <a:t>замечать, что скорость упала, и искать причину</a:t>
                      </a:r>
                    </a:p>
                  </a:txBody>
                  <a:tcPr marL="118872" marR="91440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00" b="0">
                          <a:solidFill>
                            <a:srgbClr val="2B2B2B"/>
                          </a:solidFill>
                          <a:latin typeface="Calibri"/>
                        </a:rPr>
                        <a:t>ставить рост скорости как цель</a:t>
                      </a:r>
                    </a:p>
                  </a:txBody>
                  <a:tcPr marL="118872" marR="91440" marT="45720" marB="45720" anchor="ctr">
                    <a:solidFill>
                      <a:srgbClr val="F1F4F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00" b="0">
                          <a:solidFill>
                            <a:srgbClr val="2B2B2B"/>
                          </a:solidFill>
                          <a:latin typeface="Calibri"/>
                        </a:rPr>
                        <a:t>планировать на диапазон последних значений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98000"/>
                        </a:lnSpc>
                        <a:spcAft>
                          <a:spcPts val="100"/>
                        </a:spcAft>
                      </a:pPr>
                      <a:r>
                        <a:rPr sz="1500" b="0">
                          <a:solidFill>
                            <a:srgbClr val="2B2B2B"/>
                          </a:solidFill>
                          <a:latin typeface="Calibri"/>
                        </a:rPr>
                        <a:t>использовать как показатель продуктивности людей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4096512"/>
            <a:ext cx="11057839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450" b="0" i="0">
                <a:solidFill>
                  <a:srgbClr val="2B2B2B"/>
                </a:solidFill>
                <a:latin typeface="Calibri"/>
              </a:rPr>
              <a:t>Почему нельзя сравнивать команды: единица размера у каждой своя. Команда, назначившая эталон вдвое мельче, покажет вдвое большую скорость, не работая быстрее.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450" b="0" i="0">
                <a:solidFill>
                  <a:srgbClr val="2B2B2B"/>
                </a:solidFill>
                <a:latin typeface="Calibri"/>
              </a:rPr>
              <a:t>Почему нельзя ставить целью рост: размер назначает та же команда, скорость которой измеряют.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5138928"/>
            <a:ext cx="11057839" cy="640080"/>
          </a:xfrm>
          <a:prstGeom prst="rect">
            <a:avLst/>
          </a:prstGeom>
          <a:solidFill>
            <a:srgbClr val="E4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5239512"/>
            <a:ext cx="10655503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1F3A53"/>
                </a:solidFill>
                <a:latin typeface="Calibri"/>
              </a:rPr>
              <a:t>Показатель, которым управляет измеряемый, измеряет не то, что написано на этикетке.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382512"/>
            <a:ext cx="8778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Программная инженерия  ·  Лекция 4. Оценка и работа с неопределённостью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10367" y="638251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3000" b="1" i="0">
                <a:solidFill>
                  <a:srgbClr val="1F3A53"/>
                </a:solidFill>
                <a:latin typeface="Calibri"/>
              </a:rPr>
              <a:t>Пересмотр — это работа, а не признание вины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16152"/>
            <a:ext cx="1325880" cy="40640"/>
          </a:xfrm>
          <a:prstGeom prst="rect">
            <a:avLst/>
          </a:prstGeom>
          <a:solidFill>
            <a:srgbClr val="C05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536192"/>
            <a:ext cx="110578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00" b="1" i="0">
                <a:solidFill>
                  <a:srgbClr val="1F3A53"/>
                </a:solidFill>
                <a:latin typeface="Calibri"/>
              </a:rPr>
              <a:t>Оценка — гипотеза. Расхождение с фактом — информация, а не проступок.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011680"/>
            <a:ext cx="11057839" cy="713232"/>
          </a:xfrm>
          <a:prstGeom prst="rect">
            <a:avLst/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2011680"/>
            <a:ext cx="502920" cy="713232"/>
          </a:xfrm>
          <a:prstGeom prst="rect">
            <a:avLst/>
          </a:prstGeom>
          <a:solidFill>
            <a:srgbClr val="1F3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2194560"/>
            <a:ext cx="502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7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084832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1" i="0">
                <a:solidFill>
                  <a:srgbClr val="1F3A53"/>
                </a:solidFill>
                <a:latin typeface="Calibri"/>
              </a:rPr>
              <a:t>Сообщить рано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07408" y="2103120"/>
            <a:ext cx="7223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350" b="0" i="0">
                <a:solidFill>
                  <a:srgbClr val="2B2B2B"/>
                </a:solidFill>
                <a:latin typeface="Calibri"/>
              </a:rPr>
              <a:t>ценность плохой новости падает со временем: сказанное за месяц позволяет что-то сделать, сказанное за день — нет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816352"/>
            <a:ext cx="11057839" cy="713232"/>
          </a:xfrm>
          <a:prstGeom prst="rect">
            <a:avLst/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2816352"/>
            <a:ext cx="502920" cy="713232"/>
          </a:xfrm>
          <a:prstGeom prst="rect">
            <a:avLst/>
          </a:prstGeom>
          <a:solidFill>
            <a:srgbClr val="1F3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2999232"/>
            <a:ext cx="502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7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889504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1" i="0">
                <a:solidFill>
                  <a:srgbClr val="1F3A53"/>
                </a:solidFill>
                <a:latin typeface="Calibri"/>
              </a:rPr>
              <a:t>Назвать причину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7408" y="2907792"/>
            <a:ext cx="7223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350" b="0" i="0">
                <a:solidFill>
                  <a:srgbClr val="2B2B2B"/>
                </a:solidFill>
                <a:latin typeface="Calibri"/>
              </a:rPr>
              <a:t>задача оказалась больше? появилась незапланированная работа? ждали чужого? Разные причины требуют разных действий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621024"/>
            <a:ext cx="11057839" cy="713232"/>
          </a:xfrm>
          <a:prstGeom prst="rect">
            <a:avLst/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3621024"/>
            <a:ext cx="502920" cy="713232"/>
          </a:xfrm>
          <a:prstGeom prst="rect">
            <a:avLst/>
          </a:prstGeom>
          <a:solidFill>
            <a:srgbClr val="1F3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3803904"/>
            <a:ext cx="502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7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694176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1" i="0">
                <a:solidFill>
                  <a:srgbClr val="1F3A53"/>
                </a:solidFill>
                <a:latin typeface="Calibri"/>
              </a:rPr>
              <a:t>Предложить размен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07408" y="3712464"/>
            <a:ext cx="7223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350" b="0" i="0">
                <a:solidFill>
                  <a:srgbClr val="2B2B2B"/>
                </a:solidFill>
                <a:latin typeface="Calibri"/>
              </a:rPr>
              <a:t>не «мы не успеваем», а «не успеваем всё; вот что предлагаю не делать / вот что перенести»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4425696"/>
            <a:ext cx="11057839" cy="713232"/>
          </a:xfrm>
          <a:prstGeom prst="rect">
            <a:avLst/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4425696"/>
            <a:ext cx="502920" cy="713232"/>
          </a:xfrm>
          <a:prstGeom prst="rect">
            <a:avLst/>
          </a:prstGeom>
          <a:solidFill>
            <a:srgbClr val="1F3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4608576"/>
            <a:ext cx="502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7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4498848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1" i="0">
                <a:solidFill>
                  <a:srgbClr val="1F3A53"/>
                </a:solidFill>
                <a:latin typeface="Calibri"/>
              </a:rPr>
              <a:t>Записать факт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07408" y="4517136"/>
            <a:ext cx="7223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350" b="0" i="0">
                <a:solidFill>
                  <a:srgbClr val="2B2B2B"/>
                </a:solidFill>
                <a:latin typeface="Calibri"/>
              </a:rPr>
              <a:t>иначе следующая оценка будет такой же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5285232"/>
            <a:ext cx="11057839" cy="603504"/>
          </a:xfrm>
          <a:prstGeom prst="rect">
            <a:avLst/>
          </a:prstGeom>
          <a:solidFill>
            <a:srgbClr val="E4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6" y="5385816"/>
            <a:ext cx="10655503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00" b="1" i="0">
                <a:solidFill>
                  <a:srgbClr val="1F3A53"/>
                </a:solidFill>
                <a:latin typeface="Calibri"/>
              </a:rPr>
              <a:t>Культура, в которой за плохую новость наказывают, получает плохие новости в последний день.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382512"/>
            <a:ext cx="8778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Программная инженерия  ·  Лекция 4. Оценка и работа с неопределённостью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10367" y="638251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3000" b="1" i="0">
                <a:solidFill>
                  <a:srgbClr val="1F3A53"/>
                </a:solidFill>
                <a:latin typeface="Calibri"/>
              </a:rPr>
              <a:t>Что изменилось, когда код стал дешёвым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16152"/>
            <a:ext cx="1325880" cy="40640"/>
          </a:xfrm>
          <a:prstGeom prst="rect">
            <a:avLst/>
          </a:prstGeom>
          <a:solidFill>
            <a:srgbClr val="C05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536192"/>
            <a:ext cx="11057839" cy="1170432"/>
          </a:xfrm>
          <a:prstGeom prst="rect">
            <a:avLst/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36192"/>
            <a:ext cx="45720" cy="1170432"/>
          </a:xfrm>
          <a:prstGeom prst="rect">
            <a:avLst/>
          </a:prstGeom>
          <a:solidFill>
            <a:srgbClr val="C05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64592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00" b="1" i="0">
                <a:solidFill>
                  <a:srgbClr val="1F3A53"/>
                </a:solidFill>
                <a:latin typeface="Calibri"/>
              </a:rPr>
              <a:t>Что стало хуже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1993392"/>
            <a:ext cx="1078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Оценка традиционно строилась на «сколько времени писать код». Написание перестало быть основной статьёй затрат, а узкое место сместилось туда, где оценивать труднее всего: понять задачу, проверить результат, интегрировать, разобраться в чужом коде.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816352"/>
            <a:ext cx="11057839" cy="1170432"/>
          </a:xfrm>
          <a:prstGeom prst="rect">
            <a:avLst/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2816352"/>
            <a:ext cx="45720" cy="1170432"/>
          </a:xfrm>
          <a:prstGeom prst="rect">
            <a:avLst/>
          </a:prstGeom>
          <a:solidFill>
            <a:srgbClr val="1E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292608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00" b="1" i="0">
                <a:solidFill>
                  <a:srgbClr val="1F3A53"/>
                </a:solidFill>
                <a:latin typeface="Calibri"/>
              </a:rPr>
              <a:t>Что стало лучше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3273552"/>
            <a:ext cx="1078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Неопределённость можно снимать покупкой информации, а не рассуждением. Прототип, который раньше стоил неделю, стоит час. Ответ «дайте два дня, сужу диапазон» стал заметно дешевле — иногда это «дайте два часа».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4096512"/>
            <a:ext cx="11057839" cy="1170432"/>
          </a:xfrm>
          <a:prstGeom prst="rect">
            <a:avLst/>
          </a:prstGeom>
          <a:solidFill>
            <a:srgbClr val="F1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4096512"/>
            <a:ext cx="45720" cy="1170432"/>
          </a:xfrm>
          <a:prstGeom prst="rect">
            <a:avLst/>
          </a:prstGeom>
          <a:solidFill>
            <a:srgbClr val="1F3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420624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700" b="1" i="0">
                <a:solidFill>
                  <a:srgbClr val="1F3A53"/>
                </a:solidFill>
                <a:latin typeface="Calibri"/>
              </a:rPr>
              <a:t>Что не изменилось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4553712"/>
            <a:ext cx="1078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Ошибка планирования, забытая работа, давление и отсутствие обратной связи — всё на месте. Ни один из этих механизмов не про скорость печати.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382512"/>
            <a:ext cx="8778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Программная инженерия  ·  Лекция 4. Оценка и работа с неопределённостью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10367" y="638251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3000" b="1" i="0">
                <a:solidFill>
                  <a:srgbClr val="1F3A53"/>
                </a:solidFill>
                <a:latin typeface="Calibri"/>
              </a:rPr>
              <a:t>Оценка — это решение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16152"/>
            <a:ext cx="1325880" cy="40640"/>
          </a:xfrm>
          <a:prstGeom prst="rect">
            <a:avLst/>
          </a:prstGeom>
          <a:solidFill>
            <a:srgbClr val="C05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536192"/>
            <a:ext cx="11057839" cy="658368"/>
          </a:xfrm>
          <a:prstGeom prst="rect">
            <a:avLst/>
          </a:prstGeom>
          <a:solidFill>
            <a:srgbClr val="1F3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627632"/>
            <a:ext cx="1050919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900" b="1" i="0">
                <a:solidFill>
                  <a:srgbClr val="FFFFFF"/>
                </a:solidFill>
                <a:latin typeface="Calibri"/>
              </a:rPr>
              <a:t>Оценка — не предсказание. Это утверждение при неполной информации.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432304"/>
            <a:ext cx="11057839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•   раздробить — пока разброс по элементу не станет меньше трёх раз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•   сравнивать, а не измерять — относительный размер надёжнее абсолютных часов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•   смотреть снаружи — что заняли похожие задачи в прошлый раз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•   давать диапазон и называть, что его сузит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•   держать буфер общим и следить за его расходом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•   сверять оценку с фактом — без этого не работает ничего из перечисленного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4864608"/>
            <a:ext cx="11057839" cy="868680"/>
          </a:xfrm>
          <a:prstGeom prst="rect">
            <a:avLst/>
          </a:prstGeom>
          <a:solidFill>
            <a:srgbClr val="E4E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4965192"/>
            <a:ext cx="10655503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1F3A53"/>
                </a:solidFill>
                <a:latin typeface="Calibri"/>
              </a:rPr>
              <a:t>И помнить вывод второго слайда: разброс в оценках обычно означает
не разную скорость, а разное понимание задачи.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870448"/>
            <a:ext cx="110578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500" b="0" i="1">
                <a:solidFill>
                  <a:srgbClr val="6B7280"/>
                </a:solidFill>
                <a:latin typeface="Calibri"/>
              </a:rPr>
              <a:t>Оценка и требования — одна проблема с двух сторон.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382512"/>
            <a:ext cx="8778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Программная инженерия  ·  Лекция 4. Оценка и работа с неопределённостью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10367" y="638251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700"/>
              </a:spcAft>
            </a:pPr>
            <a:r>
              <a:rPr sz="1000" b="0" i="0">
                <a:solidFill>
                  <a:srgbClr val="6B7280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