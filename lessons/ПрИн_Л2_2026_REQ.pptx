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slide" Target="slides/slide9.xml" /><Relationship Id="rId17" Type="http://schemas.openxmlformats.org/officeDocument/2006/relationships/slide" Target="slides/slide10.xml" /><Relationship Id="rId18" Type="http://schemas.openxmlformats.org/officeDocument/2006/relationships/slide" Target="slides/slide11.xml" /><Relationship Id="rId19" Type="http://schemas.openxmlformats.org/officeDocument/2006/relationships/slide" Target="slides/slide12.xml" /><Relationship Id="rId20" Type="http://schemas.openxmlformats.org/officeDocument/2006/relationships/slide" Target="slides/slide13.xml" /><Relationship Id="rId21" Type="http://schemas.openxmlformats.org/officeDocument/2006/relationships/slide" Target="slides/slide14.xml" /><Relationship Id="rId22" Type="http://schemas.openxmlformats.org/officeDocument/2006/relationships/slide" Target="slides/slide15.xml" /><Relationship Id="rId23" Type="http://schemas.openxmlformats.org/officeDocument/2006/relationships/slide" Target="slides/slide16.xml" /><Relationship Id="rId24" Type="http://schemas.openxmlformats.org/officeDocument/2006/relationships/slide" Target="slides/slide17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1284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9FB4CB"/>
                </a:solidFill>
                <a:latin typeface="Calibri"/>
              </a:rPr>
              <a:t>ПРОГРАММНАЯ 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578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Лекция 2. 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F3A53"/>
                </a:solidFill>
                <a:latin typeface="Calibri"/>
              </a:rPr>
              <a:t>Выявление, спецификация, договорённость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56432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Требование — это решение о том, что будет построено.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Оно проверяемо, если названо наблюдение, доказывающее невыполнение.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Маслов Сергей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Требование выполнено. Трижды.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713232"/>
          </a:xfrm>
          <a:prstGeom prst="rect">
            <a:avLst/>
          </a:prstGeom>
          <a:solidFill>
            <a:srgbClr val="F1F4F7"/>
          </a:solidFill>
          <a:ln w="15875">
            <a:solidFill>
              <a:srgbClr val="1F3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64208"/>
            <a:ext cx="1050919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100" b="1" i="0">
                <a:solidFill>
                  <a:srgbClr val="1F3A53"/>
                </a:solidFill>
                <a:latin typeface="Calibri"/>
              </a:rPr>
              <a:t>«Система должна уведомлять пользователя о новых сообщениях.»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487168"/>
          <a:ext cx="11057838" cy="198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Вариант 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Вариант Б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Вариант В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Push-уведомление на телефон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 момент получения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Письмо раз в сутки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со сводкой за день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Красная точка в интерфейсе,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видна при следующем входе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Пользователь узнаёт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 секунды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Пользователь узнаёт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назавтра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Пользователь узнаёт,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когда зайдёт сам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864608"/>
            <a:ext cx="11057839" cy="65836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65192"/>
            <a:ext cx="1065550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Все три требование выполняют. Ни одна не нарушает текст. Это три разных продукта.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Четыре вида деятельности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2697480" cy="14813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2697480" cy="406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82496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Выявление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40864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узнать, что нужно,
у тех, кто знает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3864" y="1536192"/>
            <a:ext cx="2697480" cy="14813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864" y="1536192"/>
            <a:ext cx="2697480" cy="406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682496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195681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Документирование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340864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записать так, чтобы понял
не только автор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36192"/>
            <a:ext cx="2697480" cy="14813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36192"/>
            <a:ext cx="2697480" cy="406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82496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5681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Согласование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40864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договориться там,
где потребности расходятся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17736" y="1536192"/>
            <a:ext cx="2697480" cy="14813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17736" y="1536192"/>
            <a:ext cx="2697480" cy="406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616" y="1682496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195681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Управление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2340864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следить за требованием,
пока система живёт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310128"/>
            <a:ext cx="5394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Признаки плохой работы с требованиями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пропущенные требования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нечёткие требования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10128"/>
            <a:ext cx="5212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Типичные причины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заказчику многое казалось очевидным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разрыв в квалификации сторон исказил коммуникацию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давление сроков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230368"/>
            <a:ext cx="11057839" cy="5486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330952"/>
            <a:ext cx="106555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Все три причины — про людей. Ни одна не про технику.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Три вида требований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2412"/>
                <a:gridCol w="4253015"/>
                <a:gridCol w="340241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Функциональные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Требования к качеству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Ограничения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Что система делает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Насколько хорошо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она это делает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Чего нельзя,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независимо от желаний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«Формирует отчёт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 кварталу»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производительность, защищённость,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надёжность, удобство использования,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сопровождаемость, переносимость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закон, стандарт, принятая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 компании платформа,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срок, бюджет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160520"/>
            <a:ext cx="11057839" cy="84124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261104"/>
            <a:ext cx="1065550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Требования к качеству чаще всего оказываются пропущенными — и чаще всего именно они
приводят к переделке системы.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23036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Отдельная тема во втором семестре: как записать их так, чтобы они были измеримы.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Контекст: что снаружи и где проходит граница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3063240"/>
            <a:ext cx="2423160" cy="96012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92040" y="331927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СИСТЕМА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2880360" cy="10058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4519"/>
            <a:ext cx="40640" cy="10058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84247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Люди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95143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заинтересованные лица
и их группы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74519"/>
            <a:ext cx="2880360" cy="10058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74519"/>
            <a:ext cx="40640" cy="10058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7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95143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с чем предстоит
обмениваться данными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874519"/>
            <a:ext cx="2880360" cy="10058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74519"/>
            <a:ext cx="40640" cy="10058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7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Процессы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95143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бизнес-процессы
и технические процессы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498848"/>
            <a:ext cx="2880360" cy="10058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8840" y="4498848"/>
            <a:ext cx="40640" cy="10058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008" y="460857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События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4919472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на что система
обязана реагировать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4498848"/>
            <a:ext cx="2880360" cy="10058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4498848"/>
            <a:ext cx="40640" cy="10058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8" y="460857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Документы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4919472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законы, стандарты,
регламенты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705856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806440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Граница системы — тоже решение. Всё, что за ней, мы не строим, но обязаны с этим считаться.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Выявление: почему нельзя просто спросить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Заказчик не может выдать готовый список, потому что: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очевидное не проговаривают — то, что делают каждый день, не осознаётся как требование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желаемое путают с решением — «нужно мобильное приложение» это не потребность, а вариант её удовлетворения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противоречия не видны изнутри — разные отделы хотят разного и не знают об этом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127248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Поэтому техник много, и они дают р а з н ы й  материал: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529584"/>
          <a:ext cx="11057837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5343"/>
                <a:gridCol w="4111247"/>
                <a:gridCol w="4111247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Техника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Что даёт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Чего не даёт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Интервью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глубина, уточнение, мотивация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то, что собеседник считает очевидным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Наблюдение в поле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реальный процесс, а не рассказ о нём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редкие и аварийные сценарии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Работа с документами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точные правила, термины, регламенты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то, что делают вопреки регламенту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Интервью: главная техника и её ловушки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627632"/>
            <a:ext cx="1065550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Открытые вопросы — чтобы получить информацию. Закрытые — чтобы подтвердить или отвергнуть конкретную формулировку.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04288"/>
            <a:ext cx="110578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04288"/>
            <a:ext cx="457200" cy="74980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0545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Принять решение за потребность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88336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«Нужна кнопка экспорта».  →  Что вы будете делать с выгруженным файлом?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54680"/>
            <a:ext cx="110578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154680"/>
            <a:ext cx="457200" cy="74980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5584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461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Не спросить про исключения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3872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Всегда: а когда так не бывает? а если данных нет?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05072"/>
            <a:ext cx="110578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5072"/>
            <a:ext cx="457200" cy="74980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062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9651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Поверить в «всегда» и «никогда»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Эти слова почти всегда означают «обычно».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55464"/>
            <a:ext cx="110578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855464"/>
            <a:ext cx="457200" cy="74980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0566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46904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Не выяснить, кто решает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395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Собеседник может рассказывать про потребность, которую не он утверждает.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742432"/>
            <a:ext cx="11057839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843016"/>
            <a:ext cx="106555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Требование, записанное со слов одного человека, — это гипотеза, а не требование.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Две техники, которые видят то, чего не скажут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5623560" cy="312724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5623560" cy="406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0078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Наблюдение в поле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0312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Смотреть, как работают сейчас, и фиксировать процесс, а не рассказ о нём.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E6B52"/>
                </a:solidFill>
                <a:latin typeface="Calibri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432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видно то, что делают не задумываясь,
и то, что делают в обход правил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E6B52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2004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видны реальные объёмы и реальный темп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51129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C05A21"/>
                </a:solidFill>
                <a:latin typeface="Calibr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11296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трудоёмко; редкие сценарии
не попадут в наблюдение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1536192"/>
            <a:ext cx="5623560" cy="312724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3096" y="1536192"/>
            <a:ext cx="5623560" cy="406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170078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Изучение существующей документации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10312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Регламенты, инструкции, формы, отчёты, структура организации.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E6B52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27432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точные правила и, что важнее,
точные термины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E6B52"/>
                </a:solidFill>
                <a:latin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32004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быстро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51129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C05A21"/>
                </a:solidFill>
                <a:latin typeface="Calibri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3511296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документация бывает мёртвой: описывает
процесс, которого давно нет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956048"/>
            <a:ext cx="11057839" cy="82296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056632"/>
            <a:ext cx="1065550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Расхождение между регламентом и наблюдением — не помеха, а находка.
Там всегда прячется требование.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Девять критериев качества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3470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1621"/>
                <a:gridCol w="7986217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Проверка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2B2B2B"/>
                          </a:solidFill>
                          <a:latin typeface="Calibri"/>
                        </a:rPr>
                        <a:t>Однозначность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допускает ли текст два прочтения?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2B2B2B"/>
                          </a:solidFill>
                          <a:latin typeface="Calibri"/>
                        </a:rPr>
                        <a:t>Проверяемость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как мы докажем, что выполнено?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Необходимость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что случится, если этого не делать?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Непротиворечивость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не спорит ли с другим требованием?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Выполнимость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можно ли это сделать в наших ограничениях?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Полнота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не оставлен ли случай без ответа?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Понятность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поймёт ли тот, кто не был на встрече?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Трассируемость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откуда взялось и во что превратилось?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Согласованность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те ли термины, что в остальном документе?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230368"/>
            <a:ext cx="11057839" cy="5486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5330952"/>
            <a:ext cx="106555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Два правила записи:  короткие предложения  ·  одно требование в предложении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Главный критерий: как мы узнаем, что выполнено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7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2769"/>
                <a:gridCol w="688506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Непроверяемо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Проверяемо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Система должна работать быстро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Страница списка заказов открывается не дольше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2 секунд при 500 записях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Интерфейс должен быть удобным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Новый сотрудник оформляет первую заявку без посторонней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помощи не дольше чем за 5 минут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Система должна быть надёжной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Плановая недоступность не превышает 4 часов в месяц,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 рабочее время не планируется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828032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928616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Если нельзя назвать наблюдение, которое покажет невыполнение, —
это не требование, а пожелание.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Одно слово — одно значение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Главная причина конфликтов в требованиях — стороны понимают термин по-разному и не знают об этом.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21408"/>
            <a:ext cx="58521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Глоссарий фиксирует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технические термины в значении, принятом в этом проекте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сокращения и аббревиатуры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бытовые слова, получившие специальный смысл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синонимы — какое слово используем, а какие запрещены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 омонимы — слова, которые в разных отделах значат разное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121408"/>
            <a:ext cx="5029200" cy="23957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2121408"/>
            <a:ext cx="502920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304288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«Активный пользователь»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•   заходил за последние 30 дней?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•   совершил хотя бы одно действие?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•   просто не заблокирован?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0" i="1">
                <a:solidFill>
                  <a:srgbClr val="C05A21"/>
                </a:solidFill>
                <a:latin typeface="Calibri"/>
              </a:rPr>
              <a:t>В трёх отделах три ответа. И все три попадут в код.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864608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965192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Самый дешёвый инструмент темы и единственный, который окупается в первую же неделю.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Как записывают требования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Данные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Поведение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Функциональность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что хранится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как меняется во времени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что система делает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2578608"/>
            <a:ext cx="110578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Основная форма — естественный язык. Он доступен всем участникам — и именно поэтому в нём легко спрятать неоднозначность.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Дисциплина записи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одно требование в предложении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действующее лицо названо явно («система», «оператор»), а не подразумевается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условие вынесено вперёд: «Если заявка не подтверждена в течение 24 часов, система…»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074920"/>
            <a:ext cx="11057839" cy="7132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074920"/>
            <a:ext cx="40640" cy="713232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175504"/>
            <a:ext cx="106006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Запрещены без числа рядом:   быстро · удобно · надёжно · гибко · интуитивно · оптимально · эффективно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Форма, в которой требование живёт в разработке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603504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627632"/>
            <a:ext cx="10600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Как &lt;роль&gt;,  я хочу &lt;действие&gt;,  чтобы &lt;результат&gt;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9424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Как староста группы, я хочу видеть, кто из группы ещё не сдал курсовую, чтобы напомнить им до дедлайна.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История — не требование, а обещание разговора. Проверяемость появляется в критериях приёмки: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55264"/>
            <a:ext cx="11057839" cy="4572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28416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C05A21"/>
                </a:solidFill>
                <a:latin typeface="Calibri"/>
              </a:rPr>
              <a:t>ДАНО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3328416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в группе есть студенты со сданными и несданными работами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85616"/>
            <a:ext cx="11057839" cy="4572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58768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C05A21"/>
                </a:solidFill>
                <a:latin typeface="Calibri"/>
              </a:rPr>
              <a:t>КОГДА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3858768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староста открывает страницу группы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15968"/>
            <a:ext cx="11057839" cy="4572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891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C05A21"/>
                </a:solidFill>
                <a:latin typeface="Calibri"/>
              </a:rPr>
              <a:t>ТОГДА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438912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несдавшие показаны отдельным списком, с датой последнего изменения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56048"/>
            <a:ext cx="11057839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056632"/>
            <a:ext cx="106555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INVEST:  независима · обсуждаема · ценна · оценима · мала · ПРОВЕРЯЕМА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32704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Это та форма, которую вы увидите в следующей лекции в бэклоге Scrum.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Модели: четыре инструмента и когда они нужны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9228"/>
                <a:gridCol w="3159382"/>
                <a:gridCol w="3949228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Что плохо описывается текстом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Что становится видно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Структура данных и связи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ER-диаграмма,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диаграмма классов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сущности, связи, кратности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Движение данных между частями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Диаграмма потоков данных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процессы, хранилища,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внешние источники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Поведение во времени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Диаграмма состояний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состояния, переходы,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недостижимые состояния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Взаимодействие с участниками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Диаграмма вариантов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использования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границы системы,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роли, сценарии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828032"/>
            <a:ext cx="11057839" cy="84124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928616"/>
            <a:ext cx="1065550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Модель — не украшение документа. Её строят, когда текст перестаёт справляться,
и ровно ту, которая отвечает на возникший вопрос.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Требования всегда конфликтуют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Пять типов конфликтов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20240"/>
            <a:ext cx="2157984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993392"/>
            <a:ext cx="19385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интересов
нужно разное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072" y="1920240"/>
            <a:ext cx="2157984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993392"/>
            <a:ext cx="19385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данных
разная информация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7216" y="1920240"/>
            <a:ext cx="2157984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1993392"/>
            <a:ext cx="19385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ценностей
разные предпочтения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920240"/>
            <a:ext cx="2157984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1993392"/>
            <a:ext cx="19385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отношений
личное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1920240"/>
            <a:ext cx="2157984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7232" y="1993392"/>
            <a:ext cx="193852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структурный
разные уровни власти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43200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1F3A53"/>
                </a:solidFill>
                <a:latin typeface="Calibri"/>
              </a:rPr>
              <a:t>Четыре шага:  выявить  →  разобрать причину  →  разрешить  →  ЗАПИСАТЬ, как разрешили и почему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18688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Приоритизация — способ разрешить конфликт ресурсов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602736"/>
          <a:ext cx="562356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35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Модель Кано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базовые — их отсутствие заметят все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основные — чем больше, тем лучше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восхищающие — их не ждут, но им рады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83096" y="3602736"/>
          <a:ext cx="5148072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4807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MoSCoW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Must — без этого не запускаемся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Should — важно, но переживём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Could — если останется время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Won't — сознательно не в этот раз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Управление изменениями и трассировка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636776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Изменение требования — нормальное событие, а не сбой.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04288"/>
            <a:ext cx="2724912" cy="86868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04288"/>
            <a:ext cx="272491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957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7004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оценить влияние:
что ещё придётся изменить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304288"/>
            <a:ext cx="2724912" cy="86868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2304288"/>
            <a:ext cx="272491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3957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67004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приоритизировать
запрос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2304288"/>
            <a:ext cx="2724912" cy="86868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304288"/>
            <a:ext cx="272491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957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67004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назначить
реализацию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45168" y="2304288"/>
            <a:ext cx="2724912" cy="86868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45168" y="2304288"/>
            <a:ext cx="2724912" cy="3810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3957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 i="0">
                <a:solidFill>
                  <a:srgbClr val="C05A21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67004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сообщить о принятии
ИЛИ ОБ ОТКЛОНЕНИИ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5643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Трассировка — связь требования с его источником и с тем, во что оно превратилось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95344"/>
            <a:ext cx="2048256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заинтересованное
лицо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4059936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C05A21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2656" y="3895344"/>
            <a:ext cx="2048256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986784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требование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4059936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C05A21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58384" y="3895344"/>
            <a:ext cx="2048256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9824" y="3986784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проектное
решение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059936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C05A21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2" y="3895344"/>
            <a:ext cx="2048256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986784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код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059936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C05A21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3895344"/>
            <a:ext cx="2048256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3986784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тест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846320"/>
            <a:ext cx="110578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Требование меняется  →  трассировка отвечает: что сломается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Что-то сломалось  →  трассировка отвечает: зачем это вообще было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Зачем это в 2026 году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Неоднозначное требование раньше приводило к спору между людьми. Спор был неприятен, но он происходил ДО реализации.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331720"/>
            <a:ext cx="11057839" cy="93268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331720"/>
            <a:ext cx="40640" cy="93268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105457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Сегодня по неоднозначному требованию быстро получается работающий код: генератор не переспрашивает, а выбирает правдоподобное прочтение — и часто не то. Неоднозначность перестала тормозить работу и начала проявляться позже и дороже.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56432"/>
            <a:ext cx="11057839" cy="786384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1" i="0">
                <a:solidFill>
                  <a:srgbClr val="1F3A53"/>
                </a:solidFill>
                <a:latin typeface="Calibri"/>
              </a:rPr>
              <a:t>Обратное следствие: попытка сформулировать требование так, чтобы по нему мог работать генератор, — хороший способ обнаружить, что вы сами не договорились.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553712"/>
            <a:ext cx="11057839" cy="1152144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681728"/>
            <a:ext cx="10509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Требование — это решение о том, что будет построено.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Оно проверяемо, если названо наблюдение, доказывающее невыполнение.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B9C9DC"/>
                </a:solidFill>
                <a:latin typeface="Calibri"/>
              </a:rPr>
              <a:t>Всё остальное в теме — способы этого добиться.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2. Требования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